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9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"/>
          <p:cNvSpPr txBox="1"/>
          <p:nvPr/>
        </p:nvSpPr>
        <p:spPr>
          <a:xfrm>
            <a:off x="2011680" y="416052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Ежедневные квесты, которые прокачивают тебя по-настоящему.</a:t>
            </a:r>
            <a:endParaRPr lang="en-US" sz="2200" dirty="0"/>
          </a:p>
        </p:txBody>
      </p:sp>
      <p:sp>
        <p:nvSpPr>
          <p:cNvPr id="7" name="Линия"/>
          <p:cNvSpPr/>
          <p:nvPr/>
        </p:nvSpPr>
        <p:spPr>
          <a:xfrm>
            <a:off x="5394960" y="5212080"/>
            <a:ext cx="1399032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Подпись"/>
          <p:cNvSpPr txBox="1"/>
          <p:nvPr/>
        </p:nvSpPr>
        <p:spPr>
          <a:xfrm>
            <a:off x="2011680" y="548640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Гайд игрока · команда /help</a:t>
            </a:r>
            <a:endParaRPr lang="en-US" sz="1400" dirty="0"/>
          </a:p>
        </p:txBody>
      </p:sp>
      <p:sp>
        <p:nvSpPr>
          <p:cNvPr id="10" name="Логотип">
            <a:extLst>
              <a:ext uri="{FF2B5EF4-FFF2-40B4-BE49-F238E27FC236}">
                <a16:creationId xmlns:a16="http://schemas.microsoft.com/office/drawing/2014/main" id="{660CA309-75A7-8F8E-1BC0-982E969ABCCF}"/>
              </a:ext>
            </a:extLst>
          </p:cNvPr>
          <p:cNvSpPr txBox="1"/>
          <p:nvPr/>
        </p:nvSpPr>
        <p:spPr>
          <a:xfrm>
            <a:off x="2042160" y="169164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system.</a:t>
            </a:r>
            <a:endParaRPr lang="en-US" sz="8800" dirty="0"/>
          </a:p>
        </p:txBody>
      </p:sp>
      <p:sp>
        <p:nvSpPr>
          <p:cNvPr id="11" name="Точка 1">
            <a:extLst>
              <a:ext uri="{FF2B5EF4-FFF2-40B4-BE49-F238E27FC236}">
                <a16:creationId xmlns:a16="http://schemas.microsoft.com/office/drawing/2014/main" id="{D6E1CADE-8147-3F01-EC0F-0BDC675CD5A0}"/>
              </a:ext>
            </a:extLst>
          </p:cNvPr>
          <p:cNvSpPr/>
          <p:nvPr/>
        </p:nvSpPr>
        <p:spPr>
          <a:xfrm>
            <a:off x="8763000" y="3044952"/>
            <a:ext cx="274320" cy="274320"/>
          </a:xfrm>
          <a:prstGeom prst="ellipse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Точка 2">
            <a:extLst>
              <a:ext uri="{FF2B5EF4-FFF2-40B4-BE49-F238E27FC236}">
                <a16:creationId xmlns:a16="http://schemas.microsoft.com/office/drawing/2014/main" id="{8F21ED99-BDE3-9259-EA0D-AEDD4895164B}"/>
              </a:ext>
            </a:extLst>
          </p:cNvPr>
          <p:cNvSpPr/>
          <p:nvPr/>
        </p:nvSpPr>
        <p:spPr>
          <a:xfrm>
            <a:off x="9064752" y="2880360"/>
            <a:ext cx="237744" cy="237744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Превращаем привычки в RPG</a:t>
            </a:r>
            <a:endParaRPr lang="en-US" sz="3000" dirty="0"/>
          </a:p>
        </p:txBody>
      </p:sp>
      <p:sp>
        <p:nvSpPr>
          <p:cNvPr id="3" name="Карточка 1"/>
          <p:cNvSpPr/>
          <p:nvPr/>
        </p:nvSpPr>
        <p:spPr>
          <a:xfrm>
            <a:off x="548640" y="173736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Иконка 1"/>
          <p:cNvSpPr txBox="1"/>
          <p:nvPr/>
        </p:nvSpPr>
        <p:spPr>
          <a:xfrm>
            <a:off x="868680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4400" dirty="0"/>
          </a:p>
        </p:txBody>
      </p:sp>
      <p:sp>
        <p:nvSpPr>
          <p:cNvPr id="5" name="Заголовок 1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Квесты каждый день</a:t>
            </a:r>
            <a:endParaRPr lang="en-US" sz="2000" dirty="0"/>
          </a:p>
        </p:txBody>
      </p:sp>
      <p:sp>
        <p:nvSpPr>
          <p:cNvPr id="6" name="Описание 1"/>
          <p:cNvSpPr txBox="1"/>
          <p:nvPr/>
        </p:nvSpPr>
        <p:spPr>
          <a:xfrm>
            <a:off x="868680" y="3611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присылает квест: цели по твоим дисциплинам — отжимания, чтение, бег и другие.</a:t>
            </a:r>
            <a:endParaRPr lang="en-US" sz="1600" dirty="0"/>
          </a:p>
        </p:txBody>
      </p:sp>
      <p:sp>
        <p:nvSpPr>
          <p:cNvPr id="7" name="Карточка 2"/>
          <p:cNvSpPr/>
          <p:nvPr/>
        </p:nvSpPr>
        <p:spPr>
          <a:xfrm>
            <a:off x="4297680" y="173736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Иконка 2"/>
          <p:cNvSpPr txBox="1"/>
          <p:nvPr/>
        </p:nvSpPr>
        <p:spPr>
          <a:xfrm>
            <a:off x="4617720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4400" dirty="0"/>
          </a:p>
        </p:txBody>
      </p:sp>
      <p:sp>
        <p:nvSpPr>
          <p:cNvPr id="9" name="Заголовок 2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Уровни и серия</a:t>
            </a:r>
            <a:endParaRPr lang="en-US" sz="2000" dirty="0"/>
          </a:p>
        </p:txBody>
      </p:sp>
      <p:sp>
        <p:nvSpPr>
          <p:cNvPr id="10" name="Описание 2"/>
          <p:cNvSpPr txBox="1"/>
          <p:nvPr/>
        </p:nvSpPr>
        <p:spPr>
          <a:xfrm>
            <a:off x="4617720" y="3611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Закрыл квест — получил XP и растишь уровень. Каждый день подряд увеличивает серию 🔥</a:t>
            </a:r>
            <a:endParaRPr lang="en-US" sz="1600" dirty="0"/>
          </a:p>
        </p:txBody>
      </p:sp>
      <p:sp>
        <p:nvSpPr>
          <p:cNvPr id="11" name="Карточка 3"/>
          <p:cNvSpPr/>
          <p:nvPr/>
        </p:nvSpPr>
        <p:spPr>
          <a:xfrm>
            <a:off x="8046720" y="173736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Иконка 3"/>
          <p:cNvSpPr txBox="1"/>
          <p:nvPr/>
        </p:nvSpPr>
        <p:spPr>
          <a:xfrm>
            <a:off x="8366760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4400" dirty="0"/>
          </a:p>
        </p:txBody>
      </p:sp>
      <p:sp>
        <p:nvSpPr>
          <p:cNvPr id="13" name="Заголовок 3"/>
          <p:cNvSpPr txBox="1"/>
          <p:nvPr/>
        </p:nvSpPr>
        <p:spPr>
          <a:xfrm>
            <a:off x="836676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Друзья поддержат</a:t>
            </a:r>
            <a:endParaRPr lang="en-US" sz="2000" dirty="0"/>
          </a:p>
        </p:txBody>
      </p:sp>
      <p:sp>
        <p:nvSpPr>
          <p:cNvPr id="14" name="Описание 3"/>
          <p:cNvSpPr txBox="1"/>
          <p:nvPr/>
        </p:nvSpPr>
        <p:spPr>
          <a:xfrm>
            <a:off x="8366760" y="3611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Друзья видят твой прогресс и могут поддержать тебя одной кнопкой.</a:t>
            </a:r>
            <a:endParaRPr lang="en-US" sz="1600" dirty="0"/>
          </a:p>
        </p:txBody>
      </p:sp>
      <p:sp>
        <p:nvSpPr>
          <p:cNvPr id="15" name="Источник идеи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вдохновлена «Solo Leveling»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за пару минут</a:t>
            </a:r>
            <a:endParaRPr lang="en-US" sz="3000" dirty="0"/>
          </a:p>
        </p:txBody>
      </p:sp>
      <p:sp>
        <p:nvSpPr>
          <p:cNvPr id="3" name="Шаг 1"/>
          <p:cNvSpPr txBox="1"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Шаг 1"/>
          <p:cNvSpPr txBox="1"/>
          <p:nvPr/>
        </p:nvSpPr>
        <p:spPr>
          <a:xfrm>
            <a:off x="105156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Отправь /start и выбери время</a:t>
            </a:r>
            <a:endParaRPr lang="en-US" sz="1700" dirty="0"/>
          </a:p>
        </p:txBody>
      </p:sp>
      <p:sp>
        <p:nvSpPr>
          <p:cNvPr id="5" name="Сообщение /start"/>
          <p:cNvSpPr txBox="1"/>
          <p:nvPr/>
        </p:nvSpPr>
        <p:spPr>
          <a:xfrm>
            <a:off x="4937760" y="1965960"/>
            <a:ext cx="1188720" cy="453136"/>
          </a:xfrm>
          <a:prstGeom prst="roundRect">
            <a:avLst>
              <a:gd name="adj" fmla="val 28251"/>
            </a:avLst>
          </a:prstGeom>
          <a:solidFill>
            <a:srgbClr val="2B5278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/start</a:t>
            </a:r>
            <a:endParaRPr lang="en-US" sz="1100" dirty="0"/>
          </a:p>
        </p:txBody>
      </p:sp>
      <p:sp>
        <p:nvSpPr>
          <p:cNvPr id="6" name="Приветствие"/>
          <p:cNvSpPr txBox="1"/>
          <p:nvPr/>
        </p:nvSpPr>
        <p:spPr>
          <a:xfrm>
            <a:off x="548640" y="2468880"/>
            <a:ext cx="5577840" cy="1168400"/>
          </a:xfrm>
          <a:prstGeom prst="roundRect">
            <a:avLst>
              <a:gd name="adj" fmla="val 10957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⟦Контроль прогресса⟧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 сделал первый шаг. Осталось несколько настроек — и врата откроются.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сколько ты хочешь, чтобы Система активировала ежедневное испытание?</a:t>
            </a:r>
            <a:endParaRPr lang="en-US" sz="1100" dirty="0"/>
          </a:p>
        </p:txBody>
      </p:sp>
      <p:sp>
        <p:nvSpPr>
          <p:cNvPr id="7" name="Время r1c1"/>
          <p:cNvSpPr txBox="1"/>
          <p:nvPr/>
        </p:nvSpPr>
        <p:spPr>
          <a:xfrm>
            <a:off x="548640" y="3692144"/>
            <a:ext cx="5577840" cy="347472"/>
          </a:xfrm>
          <a:prstGeom prst="roundRect">
            <a:avLst>
              <a:gd name="adj" fmla="val 26316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🌅 Утром (05:00)</a:t>
            </a:r>
            <a:endParaRPr lang="en-US" sz="1100" dirty="0"/>
          </a:p>
        </p:txBody>
      </p:sp>
      <p:sp>
        <p:nvSpPr>
          <p:cNvPr id="8" name="Время r2c1"/>
          <p:cNvSpPr txBox="1"/>
          <p:nvPr/>
        </p:nvSpPr>
        <p:spPr>
          <a:xfrm>
            <a:off x="548640" y="4085336"/>
            <a:ext cx="5577840" cy="347472"/>
          </a:xfrm>
          <a:prstGeom prst="roundRect">
            <a:avLst>
              <a:gd name="adj" fmla="val 26316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 Днём (13:00)</a:t>
            </a:r>
            <a:endParaRPr lang="en-US" sz="1100" dirty="0"/>
          </a:p>
        </p:txBody>
      </p:sp>
      <p:sp>
        <p:nvSpPr>
          <p:cNvPr id="9" name="Время r3c1"/>
          <p:cNvSpPr txBox="1"/>
          <p:nvPr/>
        </p:nvSpPr>
        <p:spPr>
          <a:xfrm>
            <a:off x="548640" y="4478528"/>
            <a:ext cx="5577840" cy="347472"/>
          </a:xfrm>
          <a:prstGeom prst="roundRect">
            <a:avLst>
              <a:gd name="adj" fmla="val 26316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🌇 Вечером (19:00)</a:t>
            </a:r>
            <a:endParaRPr lang="en-US" sz="1100" dirty="0"/>
          </a:p>
        </p:txBody>
      </p:sp>
      <p:sp>
        <p:nvSpPr>
          <p:cNvPr id="10" name="Время r4c1"/>
          <p:cNvSpPr txBox="1"/>
          <p:nvPr/>
        </p:nvSpPr>
        <p:spPr>
          <a:xfrm>
            <a:off x="548640" y="4871720"/>
            <a:ext cx="5577840" cy="347472"/>
          </a:xfrm>
          <a:prstGeom prst="roundRect">
            <a:avLst>
              <a:gd name="adj" fmla="val 26316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Ночью (23:00)</a:t>
            </a:r>
            <a:endParaRPr lang="en-US" sz="1100" dirty="0"/>
          </a:p>
        </p:txBody>
      </p:sp>
      <p:sp>
        <p:nvSpPr>
          <p:cNvPr id="11" name="Шаг 2"/>
          <p:cNvSpPr txBox="1"/>
          <p:nvPr/>
        </p:nvSpPr>
        <p:spPr>
          <a:xfrm>
            <a:off x="6583680" y="141732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Шаг 2"/>
          <p:cNvSpPr txBox="1"/>
          <p:nvPr/>
        </p:nvSpPr>
        <p:spPr>
          <a:xfrm>
            <a:off x="708660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Отметь дисциплины и нажми «Готово ➜»</a:t>
            </a:r>
            <a:endParaRPr lang="en-US" sz="1700" dirty="0"/>
          </a:p>
        </p:txBody>
      </p:sp>
      <p:sp>
        <p:nvSpPr>
          <p:cNvPr id="13" name="Выбор дисциплин"/>
          <p:cNvSpPr txBox="1"/>
          <p:nvPr/>
        </p:nvSpPr>
        <p:spPr>
          <a:xfrm>
            <a:off x="6583680" y="1965960"/>
            <a:ext cx="5029200" cy="989584"/>
          </a:xfrm>
          <a:prstGeom prst="roundRect">
            <a:avLst>
              <a:gd name="adj" fmla="val 12936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испытаний: 🌇 Вечером (19:00) ✅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 направления, которые Система будет тебе предлагать (можно выбрать несколько). Когда закончишь — нажми «Готово».</a:t>
            </a:r>
            <a:endParaRPr lang="en-US" sz="1100" dirty="0"/>
          </a:p>
        </p:txBody>
      </p:sp>
      <p:sp>
        <p:nvSpPr>
          <p:cNvPr id="14" name="Дисциплины r1c1"/>
          <p:cNvSpPr txBox="1"/>
          <p:nvPr/>
        </p:nvSpPr>
        <p:spPr>
          <a:xfrm>
            <a:off x="6583680" y="3010408"/>
            <a:ext cx="5029200" cy="301752"/>
          </a:xfrm>
          <a:prstGeom prst="roundRect">
            <a:avLst>
              <a:gd name="adj" fmla="val 30303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💪 Отжимания</a:t>
            </a:r>
            <a:endParaRPr lang="en-US" sz="1100" dirty="0"/>
          </a:p>
        </p:txBody>
      </p:sp>
      <p:sp>
        <p:nvSpPr>
          <p:cNvPr id="15" name="Дисциплины r2c1"/>
          <p:cNvSpPr txBox="1"/>
          <p:nvPr/>
        </p:nvSpPr>
        <p:spPr>
          <a:xfrm>
            <a:off x="6583680" y="3357880"/>
            <a:ext cx="5029200" cy="301752"/>
          </a:xfrm>
          <a:prstGeom prst="roundRect">
            <a:avLst>
              <a:gd name="adj" fmla="val 30303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▫️ 🍑 Приседания</a:t>
            </a:r>
            <a:endParaRPr lang="en-US" sz="1100" dirty="0"/>
          </a:p>
        </p:txBody>
      </p:sp>
      <p:sp>
        <p:nvSpPr>
          <p:cNvPr id="16" name="Дисциплины r3c1"/>
          <p:cNvSpPr txBox="1"/>
          <p:nvPr/>
        </p:nvSpPr>
        <p:spPr>
          <a:xfrm>
            <a:off x="6583680" y="3705352"/>
            <a:ext cx="5029200" cy="301752"/>
          </a:xfrm>
          <a:prstGeom prst="roundRect">
            <a:avLst>
              <a:gd name="adj" fmla="val 30303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▫️ 🍫 Пресс</a:t>
            </a:r>
            <a:endParaRPr lang="en-US" sz="1100" dirty="0"/>
          </a:p>
        </p:txBody>
      </p:sp>
      <p:sp>
        <p:nvSpPr>
          <p:cNvPr id="17" name="Дисциплины r4c1"/>
          <p:cNvSpPr txBox="1"/>
          <p:nvPr/>
        </p:nvSpPr>
        <p:spPr>
          <a:xfrm>
            <a:off x="6583680" y="4052824"/>
            <a:ext cx="5029200" cy="301752"/>
          </a:xfrm>
          <a:prstGeom prst="roundRect">
            <a:avLst>
              <a:gd name="adj" fmla="val 30303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▫️ 🧗 Подтягивания</a:t>
            </a:r>
            <a:endParaRPr lang="en-US" sz="1100" dirty="0"/>
          </a:p>
        </p:txBody>
      </p:sp>
      <p:sp>
        <p:nvSpPr>
          <p:cNvPr id="18" name="Дисциплины r5c1"/>
          <p:cNvSpPr txBox="1"/>
          <p:nvPr/>
        </p:nvSpPr>
        <p:spPr>
          <a:xfrm>
            <a:off x="6583680" y="4400296"/>
            <a:ext cx="5029200" cy="301752"/>
          </a:xfrm>
          <a:prstGeom prst="roundRect">
            <a:avLst>
              <a:gd name="adj" fmla="val 30303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▫️ 🏃 Бег</a:t>
            </a:r>
            <a:endParaRPr lang="en-US" sz="1100" dirty="0"/>
          </a:p>
        </p:txBody>
      </p:sp>
      <p:sp>
        <p:nvSpPr>
          <p:cNvPr id="19" name="Дисциплины r6c1"/>
          <p:cNvSpPr txBox="1"/>
          <p:nvPr/>
        </p:nvSpPr>
        <p:spPr>
          <a:xfrm>
            <a:off x="6583680" y="4747768"/>
            <a:ext cx="5029200" cy="301752"/>
          </a:xfrm>
          <a:prstGeom prst="roundRect">
            <a:avLst>
              <a:gd name="adj" fmla="val 30303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▫️ ♟ Шахматы</a:t>
            </a:r>
            <a:endParaRPr lang="en-US" sz="1100" dirty="0"/>
          </a:p>
        </p:txBody>
      </p:sp>
      <p:sp>
        <p:nvSpPr>
          <p:cNvPr id="20" name="Дисциплины r7c1"/>
          <p:cNvSpPr txBox="1"/>
          <p:nvPr/>
        </p:nvSpPr>
        <p:spPr>
          <a:xfrm>
            <a:off x="6583680" y="5095240"/>
            <a:ext cx="5029200" cy="301752"/>
          </a:xfrm>
          <a:prstGeom prst="roundRect">
            <a:avLst>
              <a:gd name="adj" fmla="val 30303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📖 Чтение</a:t>
            </a:r>
            <a:endParaRPr lang="en-US" sz="1100" dirty="0"/>
          </a:p>
        </p:txBody>
      </p:sp>
      <p:sp>
        <p:nvSpPr>
          <p:cNvPr id="21" name="Дисциплины r8c1"/>
          <p:cNvSpPr txBox="1"/>
          <p:nvPr/>
        </p:nvSpPr>
        <p:spPr>
          <a:xfrm>
            <a:off x="6583680" y="5442712"/>
            <a:ext cx="5029200" cy="301752"/>
          </a:xfrm>
          <a:prstGeom prst="roundRect">
            <a:avLst>
              <a:gd name="adj" fmla="val 30303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➜</a:t>
            </a:r>
            <a:endParaRPr lang="en-US" sz="1100" dirty="0"/>
          </a:p>
        </p:txBody>
      </p:sp>
      <p:sp>
        <p:nvSpPr>
          <p:cNvPr id="22" name="Шаг 3"/>
          <p:cNvSpPr txBox="1"/>
          <p:nvPr/>
        </p:nvSpPr>
        <p:spPr>
          <a:xfrm>
            <a:off x="548640" y="589788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Шаг 3"/>
          <p:cNvSpPr txBox="1"/>
          <p:nvPr/>
        </p:nvSpPr>
        <p:spPr>
          <a:xfrm>
            <a:off x="10515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Группу можно привязать сразу или позже — кнопка «Пропустить ➜»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день приходит карточка квеста</a:t>
            </a:r>
            <a:endParaRPr lang="en-US" sz="3000" dirty="0"/>
          </a:p>
        </p:txBody>
      </p:sp>
      <p:sp>
        <p:nvSpPr>
          <p:cNvPr id="3" name="Карточка квеста"/>
          <p:cNvSpPr txBox="1"/>
          <p:nvPr/>
        </p:nvSpPr>
        <p:spPr>
          <a:xfrm>
            <a:off x="548640" y="1600200"/>
            <a:ext cx="6583680" cy="1493520"/>
          </a:xfrm>
          <a:prstGeom prst="roundRect">
            <a:avLst>
              <a:gd name="adj" fmla="val 8571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Информация о квесте 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— инструмент. Заточи его сегодня.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===========================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До провала испытания осталось: 17 часов и 59 минут.</a:t>
            </a:r>
            <a:endParaRPr lang="en-US" sz="1500" dirty="0"/>
          </a:p>
        </p:txBody>
      </p:sp>
      <p:sp>
        <p:nvSpPr>
          <p:cNvPr id="4" name="Кнопки карточки r1c1"/>
          <p:cNvSpPr txBox="1"/>
          <p:nvPr/>
        </p:nvSpPr>
        <p:spPr>
          <a:xfrm>
            <a:off x="548640" y="3148584"/>
            <a:ext cx="6583680" cy="530352"/>
          </a:xfrm>
          <a:prstGeom prst="roundRect">
            <a:avLst>
              <a:gd name="adj" fmla="val 17241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 Отжимания 0/10</a:t>
            </a:r>
            <a:endParaRPr lang="en-US" sz="1500" dirty="0"/>
          </a:p>
        </p:txBody>
      </p:sp>
      <p:sp>
        <p:nvSpPr>
          <p:cNvPr id="5" name="Кнопки карточки r2c1"/>
          <p:cNvSpPr txBox="1"/>
          <p:nvPr/>
        </p:nvSpPr>
        <p:spPr>
          <a:xfrm>
            <a:off x="548640" y="3724656"/>
            <a:ext cx="6583680" cy="530352"/>
          </a:xfrm>
          <a:prstGeom prst="roundRect">
            <a:avLst>
              <a:gd name="adj" fmla="val 17241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Чтение 0/10</a:t>
            </a:r>
            <a:endParaRPr lang="en-US" sz="1500" dirty="0"/>
          </a:p>
        </p:txBody>
      </p:sp>
      <p:sp>
        <p:nvSpPr>
          <p:cNvPr id="6" name="Кнопки карточки r3c1"/>
          <p:cNvSpPr txBox="1"/>
          <p:nvPr/>
        </p:nvSpPr>
        <p:spPr>
          <a:xfrm>
            <a:off x="548640" y="4300728"/>
            <a:ext cx="6583680" cy="530352"/>
          </a:xfrm>
          <a:prstGeom prst="roundRect">
            <a:avLst>
              <a:gd name="adj" fmla="val 17241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🏳 Сдаться</a:t>
            </a:r>
            <a:endParaRPr lang="en-US" sz="1500" dirty="0"/>
          </a:p>
        </p:txBody>
      </p:sp>
      <p:sp>
        <p:nvSpPr>
          <p:cNvPr id="7" name="Иконка 1"/>
          <p:cNvSpPr txBox="1"/>
          <p:nvPr/>
        </p:nvSpPr>
        <p:spPr>
          <a:xfrm>
            <a:off x="7589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000" dirty="0"/>
          </a:p>
        </p:txBody>
      </p:sp>
      <p:sp>
        <p:nvSpPr>
          <p:cNvPr id="8" name="Заголовок 1"/>
          <p:cNvSpPr txBox="1"/>
          <p:nvPr/>
        </p:nvSpPr>
        <p:spPr>
          <a:xfrm>
            <a:off x="83210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Фраза дня</a:t>
            </a:r>
            <a:endParaRPr lang="en-US" sz="1900" dirty="0"/>
          </a:p>
        </p:txBody>
      </p:sp>
      <p:sp>
        <p:nvSpPr>
          <p:cNvPr id="9" name="Пояснение 1"/>
          <p:cNvSpPr txBox="1"/>
          <p:nvPr/>
        </p:nvSpPr>
        <p:spPr>
          <a:xfrm>
            <a:off x="8321040" y="2103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заголовком — короткая фраза Системы. Каждый раз новая.</a:t>
            </a:r>
            <a:endParaRPr lang="en-US" sz="1500" dirty="0"/>
          </a:p>
        </p:txBody>
      </p:sp>
      <p:sp>
        <p:nvSpPr>
          <p:cNvPr id="10" name="Иконка 2"/>
          <p:cNvSpPr txBox="1"/>
          <p:nvPr/>
        </p:nvSpPr>
        <p:spPr>
          <a:xfrm>
            <a:off x="758952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3000" dirty="0"/>
          </a:p>
        </p:txBody>
      </p:sp>
      <p:sp>
        <p:nvSpPr>
          <p:cNvPr id="11" name="Заголовок 2"/>
          <p:cNvSpPr txBox="1"/>
          <p:nvPr/>
        </p:nvSpPr>
        <p:spPr>
          <a:xfrm>
            <a:off x="8321040" y="3246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</a:t>
            </a:r>
            <a:endParaRPr lang="en-US" sz="1900" dirty="0"/>
          </a:p>
        </p:txBody>
      </p:sp>
      <p:sp>
        <p:nvSpPr>
          <p:cNvPr id="12" name="Пояснение 2"/>
          <p:cNvSpPr txBox="1"/>
          <p:nvPr/>
        </p:nvSpPr>
        <p:spPr>
          <a:xfrm>
            <a:off x="8321040" y="3657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квест 18 часов. Время обновляется прямо в карточке.</a:t>
            </a:r>
            <a:endParaRPr lang="en-US" sz="1500" dirty="0"/>
          </a:p>
        </p:txBody>
      </p:sp>
      <p:sp>
        <p:nvSpPr>
          <p:cNvPr id="13" name="Иконка 3"/>
          <p:cNvSpPr txBox="1"/>
          <p:nvPr/>
        </p:nvSpPr>
        <p:spPr>
          <a:xfrm>
            <a:off x="758952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000" dirty="0"/>
          </a:p>
        </p:txBody>
      </p:sp>
      <p:sp>
        <p:nvSpPr>
          <p:cNvPr id="14" name="Заголовок 3"/>
          <p:cNvSpPr txBox="1"/>
          <p:nvPr/>
        </p:nvSpPr>
        <p:spPr>
          <a:xfrm>
            <a:off x="8321040" y="4800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Твои дисциплины</a:t>
            </a:r>
            <a:endParaRPr lang="en-US" sz="1900" dirty="0"/>
          </a:p>
        </p:txBody>
      </p:sp>
      <p:sp>
        <p:nvSpPr>
          <p:cNvPr id="15" name="Пояснение 3"/>
          <p:cNvSpPr txBox="1"/>
          <p:nvPr/>
        </p:nvSpPr>
        <p:spPr>
          <a:xfrm>
            <a:off x="8321040" y="5212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кнопка — цель на сегодня. 0/10 значит «сделано 0 из 10».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Нажми на дисциплину и отправь число</a:t>
            </a:r>
            <a:endParaRPr lang="en-US" sz="3000" dirty="0"/>
          </a:p>
        </p:txBody>
      </p:sp>
      <p:sp>
        <p:nvSpPr>
          <p:cNvPr id="3" name="Шаг 1"/>
          <p:cNvSpPr txBox="1"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Подпись шага 1"/>
          <p:cNvSpPr txBox="1"/>
          <p:nvPr/>
        </p:nvSpPr>
        <p:spPr>
          <a:xfrm>
            <a:off x="1005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Нажимаешь на дисциплину</a:t>
            </a:r>
            <a:endParaRPr lang="en-US" sz="1600" dirty="0"/>
          </a:p>
        </p:txBody>
      </p:sp>
      <p:sp>
        <p:nvSpPr>
          <p:cNvPr id="5" name="Шаг 2"/>
          <p:cNvSpPr txBox="1"/>
          <p:nvPr/>
        </p:nvSpPr>
        <p:spPr>
          <a:xfrm>
            <a:off x="4434840" y="137160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Подпись шага 2"/>
          <p:cNvSpPr txBox="1"/>
          <p:nvPr/>
        </p:nvSpPr>
        <p:spPr>
          <a:xfrm>
            <a:off x="48920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Отправляешь число</a:t>
            </a:r>
            <a:endParaRPr lang="en-US" sz="1600" dirty="0"/>
          </a:p>
        </p:txBody>
      </p:sp>
      <p:sp>
        <p:nvSpPr>
          <p:cNvPr id="7" name="Шаг 3"/>
          <p:cNvSpPr txBox="1"/>
          <p:nvPr/>
        </p:nvSpPr>
        <p:spPr>
          <a:xfrm>
            <a:off x="8321040" y="137160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Подпись шага 3"/>
          <p:cNvSpPr txBox="1"/>
          <p:nvPr/>
        </p:nvSpPr>
        <p:spPr>
          <a:xfrm>
            <a:off x="87782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закрыта</a:t>
            </a:r>
            <a:endParaRPr lang="en-US" sz="1600" dirty="0"/>
          </a:p>
        </p:txBody>
      </p:sp>
      <p:sp>
        <p:nvSpPr>
          <p:cNvPr id="9" name="Карточка до"/>
          <p:cNvSpPr txBox="1"/>
          <p:nvPr/>
        </p:nvSpPr>
        <p:spPr>
          <a:xfrm>
            <a:off x="548640" y="2011680"/>
            <a:ext cx="3383280" cy="1184656"/>
          </a:xfrm>
          <a:prstGeom prst="roundRect">
            <a:avLst>
              <a:gd name="adj" fmla="val 10806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Информация о квесте 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— инструмент. Заточи его сегодня.</a:t>
            </a:r>
            <a:endParaRPr lang="en-US" sz="1400" dirty="0"/>
          </a:p>
        </p:txBody>
      </p:sp>
      <p:sp>
        <p:nvSpPr>
          <p:cNvPr id="10" name="Кнопки до r1c1"/>
          <p:cNvSpPr txBox="1"/>
          <p:nvPr/>
        </p:nvSpPr>
        <p:spPr>
          <a:xfrm>
            <a:off x="548640" y="3251200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💪 Отжимания 0/10 «</a:t>
            </a:r>
            <a:endParaRPr lang="en-US" sz="1400" dirty="0"/>
          </a:p>
        </p:txBody>
      </p:sp>
      <p:sp>
        <p:nvSpPr>
          <p:cNvPr id="11" name="Кнопки до r2c1"/>
          <p:cNvSpPr txBox="1"/>
          <p:nvPr/>
        </p:nvSpPr>
        <p:spPr>
          <a:xfrm>
            <a:off x="548640" y="3772408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Чтение 0/10</a:t>
            </a:r>
            <a:endParaRPr lang="en-US" sz="1400" dirty="0"/>
          </a:p>
        </p:txBody>
      </p:sp>
      <p:sp>
        <p:nvSpPr>
          <p:cNvPr id="12" name="Кнопки до r3c1"/>
          <p:cNvSpPr txBox="1"/>
          <p:nvPr/>
        </p:nvSpPr>
        <p:spPr>
          <a:xfrm>
            <a:off x="548640" y="4293616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🏳 Сдаться</a:t>
            </a:r>
            <a:endParaRPr lang="en-US" sz="1400" dirty="0"/>
          </a:p>
        </p:txBody>
      </p:sp>
      <p:sp>
        <p:nvSpPr>
          <p:cNvPr id="13" name="Число"/>
          <p:cNvSpPr txBox="1"/>
          <p:nvPr/>
        </p:nvSpPr>
        <p:spPr>
          <a:xfrm>
            <a:off x="6720840" y="2103120"/>
            <a:ext cx="1097280" cy="501904"/>
          </a:xfrm>
          <a:prstGeom prst="roundRect">
            <a:avLst>
              <a:gd name="adj" fmla="val 25506"/>
            </a:avLst>
          </a:prstGeom>
          <a:solidFill>
            <a:srgbClr val="2B5278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14" name="Пояснение числа"/>
          <p:cNvSpPr txBox="1"/>
          <p:nvPr/>
        </p:nvSpPr>
        <p:spPr>
          <a:xfrm>
            <a:off x="4434840" y="2834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с числом бот сразу удалит — всё остаётся в карточке.</a:t>
            </a:r>
            <a:endParaRPr lang="en-US" sz="1400" dirty="0"/>
          </a:p>
        </p:txBody>
      </p:sp>
      <p:sp>
        <p:nvSpPr>
          <p:cNvPr id="15" name="Карточка после"/>
          <p:cNvSpPr txBox="1"/>
          <p:nvPr/>
        </p:nvSpPr>
        <p:spPr>
          <a:xfrm>
            <a:off x="8321040" y="2011680"/>
            <a:ext cx="3383280" cy="1184656"/>
          </a:xfrm>
          <a:prstGeom prst="roundRect">
            <a:avLst>
              <a:gd name="adj" fmla="val 10806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Информация о квесте 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— инструмент. Заточи его сегодня.</a:t>
            </a:r>
            <a:endParaRPr lang="en-US" sz="1400" dirty="0"/>
          </a:p>
        </p:txBody>
      </p:sp>
      <p:sp>
        <p:nvSpPr>
          <p:cNvPr id="16" name="Кнопки после r1c1"/>
          <p:cNvSpPr txBox="1"/>
          <p:nvPr/>
        </p:nvSpPr>
        <p:spPr>
          <a:xfrm>
            <a:off x="8321040" y="3251200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✅ 💪 Отжимания 10/10 «</a:t>
            </a:r>
            <a:endParaRPr lang="en-US" sz="1400" dirty="0"/>
          </a:p>
        </p:txBody>
      </p:sp>
      <p:sp>
        <p:nvSpPr>
          <p:cNvPr id="17" name="Кнопки после r2c1"/>
          <p:cNvSpPr txBox="1"/>
          <p:nvPr/>
        </p:nvSpPr>
        <p:spPr>
          <a:xfrm>
            <a:off x="8321040" y="3772408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Чтение 0/10</a:t>
            </a:r>
            <a:endParaRPr lang="en-US" sz="1400" dirty="0"/>
          </a:p>
        </p:txBody>
      </p:sp>
      <p:sp>
        <p:nvSpPr>
          <p:cNvPr id="18" name="Кнопки после r3c1"/>
          <p:cNvSpPr txBox="1"/>
          <p:nvPr/>
        </p:nvSpPr>
        <p:spPr>
          <a:xfrm>
            <a:off x="8321040" y="4293616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🏳 Сдаться</a:t>
            </a:r>
            <a:endParaRPr lang="en-US" sz="1400" dirty="0"/>
          </a:p>
        </p:txBody>
      </p:sp>
      <p:sp>
        <p:nvSpPr>
          <p:cNvPr id="19" name="Стрелка"/>
          <p:cNvSpPr/>
          <p:nvPr/>
        </p:nvSpPr>
        <p:spPr>
          <a:xfrm>
            <a:off x="4023360" y="3017520"/>
            <a:ext cx="32004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Стрелка"/>
          <p:cNvSpPr/>
          <p:nvPr/>
        </p:nvSpPr>
        <p:spPr>
          <a:xfrm>
            <a:off x="7909560" y="3017520"/>
            <a:ext cx="32004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Подсказка 1"/>
          <p:cNvSpPr txBox="1"/>
          <p:nvPr/>
        </p:nvSpPr>
        <p:spPr>
          <a:xfrm>
            <a:off x="548640" y="5257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Подходы складываются: отправил 5 и ещё 5 — получится 10.</a:t>
            </a:r>
            <a:endParaRPr lang="en-US" sz="1900" dirty="0"/>
          </a:p>
        </p:txBody>
      </p:sp>
      <p:sp>
        <p:nvSpPr>
          <p:cNvPr id="22" name="Подсказка 2"/>
          <p:cNvSpPr txBox="1"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Ошибся? Отправь число с минусом, например -5.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и завершение квеста</a:t>
            </a:r>
            <a:endParaRPr lang="en-US" sz="3000" dirty="0"/>
          </a:p>
        </p:txBody>
      </p:sp>
      <p:sp>
        <p:nvSpPr>
          <p:cNvPr id="3" name="До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цели выполнены</a:t>
            </a:r>
            <a:endParaRPr lang="en-US" sz="1600" dirty="0"/>
          </a:p>
        </p:txBody>
      </p:sp>
      <p:sp>
        <p:nvSpPr>
          <p:cNvPr id="4" name="Карточка с фото"/>
          <p:cNvSpPr txBox="1"/>
          <p:nvPr/>
        </p:nvSpPr>
        <p:spPr>
          <a:xfrm>
            <a:off x="640080" y="1783080"/>
            <a:ext cx="5669280" cy="1753616"/>
          </a:xfrm>
          <a:prstGeom prst="roundRect">
            <a:avLst>
              <a:gd name="adj" fmla="val 7300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Информация о квесте 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— инструмент. Заточи его сегодня.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Пришли фото выполнения всех физических активностей.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===========================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До провала испытания осталось: 12 часов и 4 минуты.</a:t>
            </a:r>
            <a:endParaRPr lang="en-US" sz="1300" dirty="0"/>
          </a:p>
        </p:txBody>
      </p:sp>
      <p:sp>
        <p:nvSpPr>
          <p:cNvPr id="5" name="Кнопки с фото r1c1"/>
          <p:cNvSpPr txBox="1"/>
          <p:nvPr/>
        </p:nvSpPr>
        <p:spPr>
          <a:xfrm>
            <a:off x="640080" y="3591560"/>
            <a:ext cx="5669280" cy="384048"/>
          </a:xfrm>
          <a:prstGeom prst="roundRect">
            <a:avLst>
              <a:gd name="adj" fmla="val 2381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💪 Отжимания 10/10</a:t>
            </a:r>
            <a:endParaRPr lang="en-US" sz="1300" dirty="0"/>
          </a:p>
        </p:txBody>
      </p:sp>
      <p:sp>
        <p:nvSpPr>
          <p:cNvPr id="6" name="Кнопки с фото r2c1"/>
          <p:cNvSpPr txBox="1"/>
          <p:nvPr/>
        </p:nvSpPr>
        <p:spPr>
          <a:xfrm>
            <a:off x="640080" y="4021328"/>
            <a:ext cx="5669280" cy="384048"/>
          </a:xfrm>
          <a:prstGeom prst="roundRect">
            <a:avLst>
              <a:gd name="adj" fmla="val 2381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📖 Чтение 10/10</a:t>
            </a:r>
            <a:endParaRPr lang="en-US" sz="1300" dirty="0"/>
          </a:p>
        </p:txBody>
      </p:sp>
      <p:sp>
        <p:nvSpPr>
          <p:cNvPr id="7" name="Кнопки с фото r3c1"/>
          <p:cNvSpPr txBox="1"/>
          <p:nvPr/>
        </p:nvSpPr>
        <p:spPr>
          <a:xfrm>
            <a:off x="640080" y="4451096"/>
            <a:ext cx="5669280" cy="384048"/>
          </a:xfrm>
          <a:prstGeom prst="roundRect">
            <a:avLst>
              <a:gd name="adj" fmla="val 2381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Пропустить фото</a:t>
            </a:r>
            <a:endParaRPr lang="en-US" sz="1300" dirty="0"/>
          </a:p>
        </p:txBody>
      </p:sp>
      <p:sp>
        <p:nvSpPr>
          <p:cNvPr id="8" name="Кнопки с фото r4c1"/>
          <p:cNvSpPr txBox="1"/>
          <p:nvPr/>
        </p:nvSpPr>
        <p:spPr>
          <a:xfrm>
            <a:off x="640080" y="4880864"/>
            <a:ext cx="5669280" cy="384048"/>
          </a:xfrm>
          <a:prstGeom prst="roundRect">
            <a:avLst>
              <a:gd name="adj" fmla="val 2381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Завершить испытание</a:t>
            </a:r>
            <a:endParaRPr lang="en-US" sz="1300" dirty="0"/>
          </a:p>
        </p:txBody>
      </p:sp>
      <p:sp>
        <p:nvSpPr>
          <p:cNvPr id="9" name="Кнопки с фото r5c1"/>
          <p:cNvSpPr txBox="1"/>
          <p:nvPr/>
        </p:nvSpPr>
        <p:spPr>
          <a:xfrm>
            <a:off x="640080" y="5310632"/>
            <a:ext cx="5669280" cy="384048"/>
          </a:xfrm>
          <a:prstGeom prst="roundRect">
            <a:avLst>
              <a:gd name="adj" fmla="val 2381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🏳 Сдаться</a:t>
            </a:r>
            <a:endParaRPr lang="en-US" sz="1300" dirty="0"/>
          </a:p>
        </p:txBody>
      </p:sp>
      <p:sp>
        <p:nvSpPr>
          <p:cNvPr id="10" name="Стрелка"/>
          <p:cNvSpPr/>
          <p:nvPr/>
        </p:nvSpPr>
        <p:spPr>
          <a:xfrm>
            <a:off x="6400800" y="3291840"/>
            <a:ext cx="45720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После"/>
          <p:cNvSpPr txBox="1"/>
          <p:nvPr/>
        </p:nvSpPr>
        <p:spPr>
          <a:xfrm>
            <a:off x="699516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Квест завершён</a:t>
            </a:r>
            <a:endParaRPr lang="en-US" sz="1600" dirty="0"/>
          </a:p>
        </p:txBody>
      </p:sp>
      <p:sp>
        <p:nvSpPr>
          <p:cNvPr id="12" name="Карточка завершена"/>
          <p:cNvSpPr txBox="1"/>
          <p:nvPr/>
        </p:nvSpPr>
        <p:spPr>
          <a:xfrm>
            <a:off x="6995160" y="1783080"/>
            <a:ext cx="4663440" cy="2176272"/>
          </a:xfrm>
          <a:prstGeom prst="roundRect">
            <a:avLst>
              <a:gd name="adj" fmla="val 5882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Информация о квесте 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— инструмент. Заточи его сегодня.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Испытание завершено.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Стрик: 1 · 🏆 Уровень 1 (100 XP)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Фото сохранено.</a:t>
            </a:r>
            <a:endParaRPr lang="en-US" sz="1300" dirty="0"/>
          </a:p>
        </p:txBody>
      </p:sp>
      <p:sp>
        <p:nvSpPr>
          <p:cNvPr id="13" name="Пояснение фото"/>
          <p:cNvSpPr txBox="1"/>
          <p:nvPr/>
        </p:nvSpPr>
        <p:spPr>
          <a:xfrm>
            <a:off x="6995160" y="42519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Пришли фото в чат — оно уйдёт в привязанную группу. Или нажми «Пропустить фото».</a:t>
            </a:r>
            <a:endParaRPr lang="en-US" sz="1500" dirty="0"/>
          </a:p>
        </p:txBody>
      </p:sp>
      <p:sp>
        <p:nvSpPr>
          <p:cNvPr id="14" name="Пояснение финала"/>
          <p:cNvSpPr txBox="1"/>
          <p:nvPr/>
        </p:nvSpPr>
        <p:spPr>
          <a:xfrm>
            <a:off x="6995160" y="5257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«🏁 Завершить испытание» закрывает карточку: XP и серия твои.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XP, уровни и серия</a:t>
            </a:r>
            <a:endParaRPr lang="en-US" sz="3000" dirty="0"/>
          </a:p>
        </p:txBody>
      </p:sp>
      <p:sp>
        <p:nvSpPr>
          <p:cNvPr id="3" name="Уровень 1"/>
          <p:cNvSpPr txBox="1"/>
          <p:nvPr/>
        </p:nvSpPr>
        <p:spPr>
          <a:xfrm>
            <a:off x="8229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1</a:t>
            </a:r>
            <a:endParaRPr lang="en-US" sz="2200" dirty="0"/>
          </a:p>
        </p:txBody>
      </p:sp>
      <p:sp>
        <p:nvSpPr>
          <p:cNvPr id="4" name="Уровень 2"/>
          <p:cNvSpPr txBox="1"/>
          <p:nvPr/>
        </p:nvSpPr>
        <p:spPr>
          <a:xfrm>
            <a:off x="7708392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2</a:t>
            </a:r>
            <a:endParaRPr lang="en-US" sz="2200" dirty="0"/>
          </a:p>
        </p:txBody>
      </p:sp>
      <p:sp>
        <p:nvSpPr>
          <p:cNvPr id="5" name="Шкала XP"/>
          <p:cNvSpPr/>
          <p:nvPr/>
        </p:nvSpPr>
        <p:spPr>
          <a:xfrm>
            <a:off x="822960" y="2103120"/>
            <a:ext cx="10543032" cy="548640"/>
          </a:xfrm>
          <a:prstGeom prst="roundRect">
            <a:avLst>
              <a:gd name="adj" fmla="val 50000"/>
            </a:avLst>
          </a:prstGeom>
          <a:solidFill>
            <a:srgbClr val="1C2733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Заполнение XP"/>
          <p:cNvSpPr/>
          <p:nvPr/>
        </p:nvSpPr>
        <p:spPr>
          <a:xfrm>
            <a:off x="822960" y="210312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Подпись шкалы"/>
          <p:cNvSpPr txBox="1"/>
          <p:nvPr/>
        </p:nvSpPr>
        <p:spPr>
          <a:xfrm>
            <a:off x="822960" y="2724912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1000 XP</a:t>
            </a:r>
            <a:endParaRPr lang="en-US" sz="1600" dirty="0"/>
          </a:p>
        </p:txBody>
      </p:sp>
      <p:sp>
        <p:nvSpPr>
          <p:cNvPr id="8" name="Факт 1"/>
          <p:cNvSpPr/>
          <p:nvPr/>
        </p:nvSpPr>
        <p:spPr>
          <a:xfrm>
            <a:off x="822960" y="3611880"/>
            <a:ext cx="5120640" cy="1188720"/>
          </a:xfrm>
          <a:prstGeom prst="roundRect">
            <a:avLst>
              <a:gd name="adj" fmla="val 10769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Факт 1 заголовок"/>
          <p:cNvSpPr txBox="1"/>
          <p:nvPr/>
        </p:nvSpPr>
        <p:spPr>
          <a:xfrm>
            <a:off x="1097280" y="3749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 XP</a:t>
            </a:r>
            <a:endParaRPr lang="en-US" sz="2000" dirty="0"/>
          </a:p>
        </p:txBody>
      </p:sp>
      <p:sp>
        <p:nvSpPr>
          <p:cNvPr id="10" name="Факт 1 текст"/>
          <p:cNvSpPr txBox="1"/>
          <p:nvPr/>
        </p:nvSpPr>
        <p:spPr>
          <a:xfrm>
            <a:off x="109728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каждый завершённый квест на 1-м уровне. Дальше награда растёт.</a:t>
            </a:r>
            <a:endParaRPr lang="en-US" sz="1400" dirty="0"/>
          </a:p>
        </p:txBody>
      </p:sp>
      <p:sp>
        <p:nvSpPr>
          <p:cNvPr id="11" name="Факт 2"/>
          <p:cNvSpPr/>
          <p:nvPr/>
        </p:nvSpPr>
        <p:spPr>
          <a:xfrm>
            <a:off x="6217920" y="3611880"/>
            <a:ext cx="5120640" cy="1188720"/>
          </a:xfrm>
          <a:prstGeom prst="roundRect">
            <a:avLst>
              <a:gd name="adj" fmla="val 10769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Факт 2 заголовок"/>
          <p:cNvSpPr txBox="1"/>
          <p:nvPr/>
        </p:nvSpPr>
        <p:spPr>
          <a:xfrm>
            <a:off x="6492240" y="3749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квестов</a:t>
            </a:r>
            <a:endParaRPr lang="en-US" sz="2000" dirty="0"/>
          </a:p>
        </p:txBody>
      </p:sp>
      <p:sp>
        <p:nvSpPr>
          <p:cNvPr id="13" name="Факт 2 текст"/>
          <p:cNvSpPr txBox="1"/>
          <p:nvPr/>
        </p:nvSpPr>
        <p:spPr>
          <a:xfrm>
            <a:off x="649224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нужно, чтобы с 1-го уровня перейти на 2-й (1000 XP).</a:t>
            </a:r>
            <a:endParaRPr lang="en-US" sz="1400" dirty="0"/>
          </a:p>
        </p:txBody>
      </p:sp>
      <p:sp>
        <p:nvSpPr>
          <p:cNvPr id="14" name="Факт 3"/>
          <p:cNvSpPr/>
          <p:nvPr/>
        </p:nvSpPr>
        <p:spPr>
          <a:xfrm>
            <a:off x="822960" y="4983480"/>
            <a:ext cx="5120640" cy="1188720"/>
          </a:xfrm>
          <a:prstGeom prst="roundRect">
            <a:avLst>
              <a:gd name="adj" fmla="val 10769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Факт 3 заголовок"/>
          <p:cNvSpPr txBox="1"/>
          <p:nvPr/>
        </p:nvSpPr>
        <p:spPr>
          <a:xfrm>
            <a:off x="109728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дороже</a:t>
            </a:r>
            <a:endParaRPr lang="en-US" sz="2000" dirty="0"/>
          </a:p>
        </p:txBody>
      </p:sp>
      <p:sp>
        <p:nvSpPr>
          <p:cNvPr id="16" name="Факт 3 текст"/>
          <p:cNvSpPr txBox="1"/>
          <p:nvPr/>
        </p:nvSpPr>
        <p:spPr>
          <a:xfrm>
            <a:off x="1097280" y="5577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следующий уровень чуть дороже: например, 2 → 3 стоит 1120 XP.</a:t>
            </a:r>
            <a:endParaRPr lang="en-US" sz="1400" dirty="0"/>
          </a:p>
        </p:txBody>
      </p:sp>
      <p:sp>
        <p:nvSpPr>
          <p:cNvPr id="17" name="Факт 4"/>
          <p:cNvSpPr/>
          <p:nvPr/>
        </p:nvSpPr>
        <p:spPr>
          <a:xfrm>
            <a:off x="6217920" y="4983480"/>
            <a:ext cx="5120640" cy="1188720"/>
          </a:xfrm>
          <a:prstGeom prst="roundRect">
            <a:avLst>
              <a:gd name="adj" fmla="val 10769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Факт 4 заголовок"/>
          <p:cNvSpPr txBox="1"/>
          <p:nvPr/>
        </p:nvSpPr>
        <p:spPr>
          <a:xfrm>
            <a:off x="649224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Серия</a:t>
            </a:r>
            <a:endParaRPr lang="en-US" sz="2000" dirty="0"/>
          </a:p>
        </p:txBody>
      </p:sp>
      <p:sp>
        <p:nvSpPr>
          <p:cNvPr id="19" name="Факт 4 текст"/>
          <p:cNvSpPr txBox="1"/>
          <p:nvPr/>
        </p:nvSpPr>
        <p:spPr>
          <a:xfrm>
            <a:off x="6492240" y="5577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растёт на +1 за каждый завершённый квест. Провал сбрасывает её.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успел? Вот что будет</a:t>
            </a:r>
            <a:endParaRPr lang="en-US" sz="3000" dirty="0"/>
          </a:p>
        </p:txBody>
      </p:sp>
      <p:sp>
        <p:nvSpPr>
          <p:cNvPr id="3" name="До"/>
          <p:cNvSpPr txBox="1"/>
          <p:nvPr/>
        </p:nvSpPr>
        <p:spPr>
          <a:xfrm>
            <a:off x="54864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60, 30 и 15 минут до конца Система предупредит</a:t>
            </a:r>
            <a:endParaRPr lang="en-US" sz="1500" dirty="0"/>
          </a:p>
        </p:txBody>
      </p:sp>
      <p:sp>
        <p:nvSpPr>
          <p:cNvPr id="4" name="Предупреждение"/>
          <p:cNvSpPr txBox="1"/>
          <p:nvPr/>
        </p:nvSpPr>
        <p:spPr>
          <a:xfrm>
            <a:off x="548640" y="2057400"/>
            <a:ext cx="5394960" cy="2598928"/>
          </a:xfrm>
          <a:prstGeom prst="roundRect">
            <a:avLst>
              <a:gd name="adj" fmla="val 4926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『 Предупреждение Системы 』 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──────────────────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провала дневного квеста осталось менее 15 минут.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Закрой все цели и заверши испытание вовремя.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──────────────────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провале будет наложена кара: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Опыт: −300 XP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Серия дней: обнулена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Ограничение доступа: 48 ч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──────────────────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идёт.</a:t>
            </a:r>
            <a:endParaRPr lang="en-US" sz="1300" dirty="0"/>
          </a:p>
        </p:txBody>
      </p:sp>
      <p:sp>
        <p:nvSpPr>
          <p:cNvPr id="5" name="После"/>
          <p:cNvSpPr txBox="1"/>
          <p:nvPr/>
        </p:nvSpPr>
        <p:spPr>
          <a:xfrm>
            <a:off x="6263640" y="13716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вышло или нажал «🏳 Сдаться» (бот спросит «Да / Нет»)</a:t>
            </a:r>
            <a:endParaRPr lang="en-US" sz="1500" dirty="0"/>
          </a:p>
        </p:txBody>
      </p:sp>
      <p:sp>
        <p:nvSpPr>
          <p:cNvPr id="6" name="Уведомление о провале"/>
          <p:cNvSpPr txBox="1"/>
          <p:nvPr/>
        </p:nvSpPr>
        <p:spPr>
          <a:xfrm>
            <a:off x="6263640" y="2057400"/>
            <a:ext cx="5394960" cy="2810256"/>
          </a:xfrm>
          <a:prstGeom prst="roundRect">
            <a:avLst>
              <a:gd name="adj" fmla="val 4555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『 Уведомление Системы 』 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──────────────────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квеста: ПРОВАЛЕН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Дневной квест не был выполнен в отведённое время.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──────────────────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Наложена кара: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Опыт: −300 XP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Серия дней: обнулена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Ограничение доступа: 48 ч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──────────────────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не делает исключений для слабых.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шанс появится вместе со следующим испытанием.</a:t>
            </a:r>
            <a:endParaRPr lang="en-US" sz="1300" dirty="0"/>
          </a:p>
        </p:txBody>
      </p:sp>
      <p:sp>
        <p:nvSpPr>
          <p:cNvPr id="7" name="Итог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Серия сбрасывается · −300 XP · 48 часов без новых квестов</a:t>
            </a:r>
            <a:endParaRPr lang="en-US" sz="1900" dirty="0"/>
          </a:p>
        </p:txBody>
      </p:sp>
      <p:sp>
        <p:nvSpPr>
          <p:cNvPr id="8" name="Автопауза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провала подряд ставят Систему на паузу. Вернуться можно командой /start.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не пришла? Это не твоя вина</a:t>
            </a:r>
            <a:endParaRPr lang="en-US" sz="3000" dirty="0"/>
          </a:p>
        </p:txBody>
      </p:sp>
      <p:sp>
        <p:nvSpPr>
          <p:cNvPr id="3" name="Попытка 1"/>
          <p:cNvSpPr txBox="1"/>
          <p:nvPr/>
        </p:nvSpPr>
        <p:spPr>
          <a:xfrm>
            <a:off x="1005840" y="1737360"/>
            <a:ext cx="2286000" cy="640080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квеста</a:t>
            </a:r>
            <a:endParaRPr lang="en-US" sz="1800" dirty="0"/>
          </a:p>
        </p:txBody>
      </p:sp>
      <p:sp>
        <p:nvSpPr>
          <p:cNvPr id="4" name="Стрелка"/>
          <p:cNvSpPr/>
          <p:nvPr/>
        </p:nvSpPr>
        <p:spPr>
          <a:xfrm>
            <a:off x="3337560" y="2057400"/>
            <a:ext cx="36576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5" name="Попытка 2"/>
          <p:cNvSpPr txBox="1"/>
          <p:nvPr/>
        </p:nvSpPr>
        <p:spPr>
          <a:xfrm>
            <a:off x="3749040" y="1737360"/>
            <a:ext cx="2286000" cy="640080"/>
          </a:xfrm>
          <a:prstGeom prst="roundRect">
            <a:avLst>
              <a:gd name="adj" fmla="val 21429"/>
            </a:avLst>
          </a:prstGeom>
          <a:solidFill>
            <a:srgbClr val="232F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час</a:t>
            </a:r>
            <a:endParaRPr lang="en-US" sz="1800" dirty="0"/>
          </a:p>
        </p:txBody>
      </p:sp>
      <p:sp>
        <p:nvSpPr>
          <p:cNvPr id="6" name="Стрелка"/>
          <p:cNvSpPr/>
          <p:nvPr/>
        </p:nvSpPr>
        <p:spPr>
          <a:xfrm>
            <a:off x="6080760" y="2057400"/>
            <a:ext cx="36576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7" name="Попытка 3"/>
          <p:cNvSpPr txBox="1"/>
          <p:nvPr/>
        </p:nvSpPr>
        <p:spPr>
          <a:xfrm>
            <a:off x="6492240" y="1737360"/>
            <a:ext cx="2286000" cy="640080"/>
          </a:xfrm>
          <a:prstGeom prst="roundRect">
            <a:avLst>
              <a:gd name="adj" fmla="val 21429"/>
            </a:avLst>
          </a:prstGeom>
          <a:solidFill>
            <a:srgbClr val="232F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часа</a:t>
            </a:r>
            <a:endParaRPr lang="en-US" sz="1800" dirty="0"/>
          </a:p>
        </p:txBody>
      </p:sp>
      <p:sp>
        <p:nvSpPr>
          <p:cNvPr id="8" name="Стрелка"/>
          <p:cNvSpPr/>
          <p:nvPr/>
        </p:nvSpPr>
        <p:spPr>
          <a:xfrm>
            <a:off x="8823960" y="2057400"/>
            <a:ext cx="36576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9" name="Попытка 4"/>
          <p:cNvSpPr txBox="1"/>
          <p:nvPr/>
        </p:nvSpPr>
        <p:spPr>
          <a:xfrm>
            <a:off x="9235440" y="1737360"/>
            <a:ext cx="2286000" cy="640080"/>
          </a:xfrm>
          <a:prstGeom prst="roundRect">
            <a:avLst>
              <a:gd name="adj" fmla="val 21429"/>
            </a:avLst>
          </a:prstGeom>
          <a:solidFill>
            <a:srgbClr val="232F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часа</a:t>
            </a:r>
            <a:endParaRPr lang="en-US" sz="1800" dirty="0"/>
          </a:p>
        </p:txBody>
      </p:sp>
      <p:sp>
        <p:nvSpPr>
          <p:cNvPr id="10" name="Подпись попыток"/>
          <p:cNvSpPr txBox="1"/>
          <p:nvPr/>
        </p:nvSpPr>
        <p:spPr>
          <a:xfrm>
            <a:off x="1005840" y="2697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сама попробует отправить квест ещё до трёх раз — раз в час.</a:t>
            </a:r>
            <a:endParaRPr lang="en-US" sz="1800" dirty="0"/>
          </a:p>
        </p:txBody>
      </p:sp>
      <p:sp>
        <p:nvSpPr>
          <p:cNvPr id="11" name="Пункт 1"/>
          <p:cNvSpPr/>
          <p:nvPr/>
        </p:nvSpPr>
        <p:spPr>
          <a:xfrm>
            <a:off x="822960" y="3566160"/>
            <a:ext cx="3383280" cy="2194560"/>
          </a:xfrm>
          <a:prstGeom prst="roundRect">
            <a:avLst>
              <a:gd name="adj" fmla="val 5833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Иконка 1"/>
          <p:cNvSpPr txBox="1"/>
          <p:nvPr/>
        </p:nvSpPr>
        <p:spPr>
          <a:xfrm>
            <a:off x="1097280" y="3749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3000" dirty="0"/>
          </a:p>
        </p:txBody>
      </p:sp>
      <p:sp>
        <p:nvSpPr>
          <p:cNvPr id="13" name="Заголовок 1"/>
          <p:cNvSpPr txBox="1"/>
          <p:nvPr/>
        </p:nvSpPr>
        <p:spPr>
          <a:xfrm>
            <a:off x="10972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Штрафа нет</a:t>
            </a:r>
            <a:endParaRPr lang="en-US" sz="1700" dirty="0"/>
          </a:p>
        </p:txBody>
      </p:sp>
      <p:sp>
        <p:nvSpPr>
          <p:cNvPr id="14" name="Текст 1"/>
          <p:cNvSpPr txBox="1"/>
          <p:nvPr/>
        </p:nvSpPr>
        <p:spPr>
          <a:xfrm>
            <a:off x="1097280" y="4983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Серия и XP не страдают.</a:t>
            </a:r>
            <a:endParaRPr lang="en-US" sz="1400" dirty="0"/>
          </a:p>
        </p:txBody>
      </p:sp>
      <p:sp>
        <p:nvSpPr>
          <p:cNvPr id="15" name="Пункт 2"/>
          <p:cNvSpPr/>
          <p:nvPr/>
        </p:nvSpPr>
        <p:spPr>
          <a:xfrm>
            <a:off x="4480560" y="3566160"/>
            <a:ext cx="3383280" cy="2194560"/>
          </a:xfrm>
          <a:prstGeom prst="roundRect">
            <a:avLst>
              <a:gd name="adj" fmla="val 5833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Иконка 2"/>
          <p:cNvSpPr txBox="1"/>
          <p:nvPr/>
        </p:nvSpPr>
        <p:spPr>
          <a:xfrm>
            <a:off x="4754880" y="3749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3000" dirty="0"/>
          </a:p>
        </p:txBody>
      </p:sp>
      <p:sp>
        <p:nvSpPr>
          <p:cNvPr id="17" name="Заголовок 2"/>
          <p:cNvSpPr txBox="1"/>
          <p:nvPr/>
        </p:nvSpPr>
        <p:spPr>
          <a:xfrm>
            <a:off x="47548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часов — от получения</a:t>
            </a:r>
            <a:endParaRPr lang="en-US" sz="1700" dirty="0"/>
          </a:p>
        </p:txBody>
      </p:sp>
      <p:sp>
        <p:nvSpPr>
          <p:cNvPr id="18" name="Текст 2"/>
          <p:cNvSpPr txBox="1"/>
          <p:nvPr/>
        </p:nvSpPr>
        <p:spPr>
          <a:xfrm>
            <a:off x="4754880" y="4983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на квест отсчитывается от того момента, когда карточка наконец пришла.</a:t>
            </a:r>
            <a:endParaRPr lang="en-US" sz="1400" dirty="0"/>
          </a:p>
        </p:txBody>
      </p:sp>
      <p:sp>
        <p:nvSpPr>
          <p:cNvPr id="19" name="Пункт 3"/>
          <p:cNvSpPr/>
          <p:nvPr/>
        </p:nvSpPr>
        <p:spPr>
          <a:xfrm>
            <a:off x="8138160" y="3566160"/>
            <a:ext cx="3383280" cy="2194560"/>
          </a:xfrm>
          <a:prstGeom prst="roundRect">
            <a:avLst>
              <a:gd name="adj" fmla="val 5833"/>
            </a:avLst>
          </a:prstGeom>
          <a:solidFill>
            <a:srgbClr val="151E29"/>
          </a:solidFill>
          <a:ln w="12700">
            <a:solidFill>
              <a:srgbClr val="2B3A4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Иконка 3"/>
          <p:cNvSpPr txBox="1"/>
          <p:nvPr/>
        </p:nvSpPr>
        <p:spPr>
          <a:xfrm>
            <a:off x="8412480" y="3749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⏭️</a:t>
            </a:r>
            <a:endParaRPr lang="en-US" sz="3000" dirty="0"/>
          </a:p>
        </p:txBody>
      </p:sp>
      <p:sp>
        <p:nvSpPr>
          <p:cNvPr id="21" name="Заголовок 3"/>
          <p:cNvSpPr txBox="1"/>
          <p:nvPr/>
        </p:nvSpPr>
        <p:spPr>
          <a:xfrm>
            <a:off x="84124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вышло и так</a:t>
            </a:r>
            <a:endParaRPr lang="en-US" sz="1700" dirty="0"/>
          </a:p>
        </p:txBody>
      </p:sp>
      <p:sp>
        <p:nvSpPr>
          <p:cNvPr id="22" name="Текст 3"/>
          <p:cNvSpPr txBox="1"/>
          <p:nvPr/>
        </p:nvSpPr>
        <p:spPr>
          <a:xfrm>
            <a:off x="8412480" y="4983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8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пропускается — следующий квест придёт в обычное время.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Твой профиль и статистика</a:t>
            </a:r>
            <a:endParaRPr lang="en-US" sz="3000" dirty="0"/>
          </a:p>
        </p:txBody>
      </p:sp>
      <p:sp>
        <p:nvSpPr>
          <p:cNvPr id="3" name="Профиль"/>
          <p:cNvSpPr txBox="1"/>
          <p:nvPr/>
        </p:nvSpPr>
        <p:spPr>
          <a:xfrm>
            <a:off x="548640" y="1600200"/>
            <a:ext cx="6400800" cy="2956560"/>
          </a:xfrm>
          <a:prstGeom prst="roundRect">
            <a:avLst>
              <a:gd name="adj" fmla="val 4330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『Профиль Игрока』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🆔 Алекс · #261023-839201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Уровень: 2 (400/1120 XP)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Серия: 2 дня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Время испытаний: 🌇 Вечером (19:00)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Группа привязана: нет (напиши /bind_group в группе)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 Отжимания: 120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Чтение (страниц): 45</a:t>
            </a:r>
            <a:endParaRPr lang="en-US" sz="1500" dirty="0"/>
          </a:p>
        </p:txBody>
      </p:sp>
      <p:sp>
        <p:nvSpPr>
          <p:cNvPr id="4" name="Команда 1"/>
          <p:cNvSpPr txBox="1"/>
          <p:nvPr/>
        </p:nvSpPr>
        <p:spPr>
          <a:xfrm>
            <a:off x="7406640" y="1691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/profile</a:t>
            </a:r>
            <a:endParaRPr lang="en-US" sz="2000" dirty="0"/>
          </a:p>
        </p:txBody>
      </p:sp>
      <p:sp>
        <p:nvSpPr>
          <p:cNvPr id="5" name="Пояснение 1"/>
          <p:cNvSpPr txBox="1"/>
          <p:nvPr/>
        </p:nvSpPr>
        <p:spPr>
          <a:xfrm>
            <a:off x="7406640" y="21488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Закреплённое сообщение в чате: уровень, серия, время квеста, группа и твои итоги.</a:t>
            </a:r>
            <a:endParaRPr lang="en-US" sz="1500" dirty="0"/>
          </a:p>
        </p:txBody>
      </p:sp>
      <p:sp>
        <p:nvSpPr>
          <p:cNvPr id="6" name="Команда 2"/>
          <p:cNvSpPr txBox="1"/>
          <p:nvPr/>
        </p:nvSpPr>
        <p:spPr>
          <a:xfrm>
            <a:off x="7406640" y="3200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#261023-839201</a:t>
            </a:r>
            <a:endParaRPr lang="en-US" sz="2000" dirty="0"/>
          </a:p>
        </p:txBody>
      </p:sp>
      <p:sp>
        <p:nvSpPr>
          <p:cNvPr id="7" name="Пояснение 2"/>
          <p:cNvSpPr txBox="1"/>
          <p:nvPr/>
        </p:nvSpPr>
        <p:spPr>
          <a:xfrm>
            <a:off x="7406640" y="3657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Твой код игрока. По нему друзья добавляют тебя в Отряд.</a:t>
            </a:r>
            <a:endParaRPr lang="en-US" sz="1500" dirty="0"/>
          </a:p>
        </p:txBody>
      </p:sp>
      <p:sp>
        <p:nvSpPr>
          <p:cNvPr id="8" name="Команда 3"/>
          <p:cNvSpPr txBox="1"/>
          <p:nvPr/>
        </p:nvSpPr>
        <p:spPr>
          <a:xfrm>
            <a:off x="7406640" y="4709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/get_stats_excel</a:t>
            </a:r>
            <a:endParaRPr lang="en-US" sz="2000" dirty="0"/>
          </a:p>
        </p:txBody>
      </p:sp>
      <p:sp>
        <p:nvSpPr>
          <p:cNvPr id="9" name="Пояснение 3"/>
          <p:cNvSpPr txBox="1"/>
          <p:nvPr/>
        </p:nvSpPr>
        <p:spPr>
          <a:xfrm>
            <a:off x="7406640" y="5166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Присылает Excel-файл со статистикой по дням.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 друзья видят твой прогресс</a:t>
            </a:r>
            <a:endParaRPr lang="en-US" sz="3000" dirty="0"/>
          </a:p>
        </p:txBody>
      </p:sp>
      <p:sp>
        <p:nvSpPr>
          <p:cNvPr id="3" name="Чат Система"/>
          <p:cNvSpPr/>
          <p:nvPr/>
        </p:nvSpPr>
        <p:spPr>
          <a:xfrm>
            <a:off x="640080" y="146304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0E1621"/>
          </a:solidFill>
          <a:ln w="12700">
            <a:solidFill>
              <a:srgbClr val="2232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Шапка Система"/>
          <p:cNvSpPr/>
          <p:nvPr/>
        </p:nvSpPr>
        <p:spPr>
          <a:xfrm>
            <a:off x="658368" y="1481328"/>
            <a:ext cx="5084064" cy="548640"/>
          </a:xfrm>
          <a:prstGeom prst="rect">
            <a:avLst/>
          </a:prstGeom>
          <a:solidFill>
            <a:srgbClr val="17212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Название Система"/>
          <p:cNvSpPr txBox="1"/>
          <p:nvPr/>
        </p:nvSpPr>
        <p:spPr>
          <a:xfrm>
            <a:off x="914400" y="1517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1400" dirty="0"/>
          </a:p>
        </p:txBody>
      </p:sp>
      <p:sp>
        <p:nvSpPr>
          <p:cNvPr id="6" name="Статус Система"/>
          <p:cNvSpPr txBox="1"/>
          <p:nvPr/>
        </p:nvSpPr>
        <p:spPr>
          <a:xfrm>
            <a:off x="914400" y="17739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9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</a:t>
            </a:r>
            <a:endParaRPr lang="en-US" sz="1100" dirty="0"/>
          </a:p>
        </p:txBody>
      </p:sp>
      <p:sp>
        <p:nvSpPr>
          <p:cNvPr id="7" name="Чат Команда друзей"/>
          <p:cNvSpPr/>
          <p:nvPr/>
        </p:nvSpPr>
        <p:spPr>
          <a:xfrm>
            <a:off x="6400800" y="146304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0E1621"/>
          </a:solidFill>
          <a:ln w="12700">
            <a:solidFill>
              <a:srgbClr val="22324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Шапка Команда друзей"/>
          <p:cNvSpPr/>
          <p:nvPr/>
        </p:nvSpPr>
        <p:spPr>
          <a:xfrm>
            <a:off x="6419088" y="1481328"/>
            <a:ext cx="5084064" cy="548640"/>
          </a:xfrm>
          <a:prstGeom prst="rect">
            <a:avLst/>
          </a:prstGeom>
          <a:solidFill>
            <a:srgbClr val="17212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Название Команда друзей"/>
          <p:cNvSpPr txBox="1"/>
          <p:nvPr/>
        </p:nvSpPr>
        <p:spPr>
          <a:xfrm>
            <a:off x="6675120" y="1517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друзей</a:t>
            </a:r>
            <a:endParaRPr lang="en-US" sz="1400" dirty="0"/>
          </a:p>
        </p:txBody>
      </p:sp>
      <p:sp>
        <p:nvSpPr>
          <p:cNvPr id="10" name="Статус Команда друзей"/>
          <p:cNvSpPr txBox="1"/>
          <p:nvPr/>
        </p:nvSpPr>
        <p:spPr>
          <a:xfrm>
            <a:off x="6675120" y="17739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9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</a:t>
            </a:r>
            <a:endParaRPr lang="en-US" sz="1100" dirty="0"/>
          </a:p>
        </p:txBody>
      </p:sp>
      <p:sp>
        <p:nvSpPr>
          <p:cNvPr id="11" name="Фото игрока"/>
          <p:cNvSpPr txBox="1"/>
          <p:nvPr/>
        </p:nvSpPr>
        <p:spPr>
          <a:xfrm>
            <a:off x="914400" y="228600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2B527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фото выполнения</a:t>
            </a:r>
            <a:endParaRPr lang="en-US" sz="1400" dirty="0"/>
          </a:p>
        </p:txBody>
      </p:sp>
      <p:sp>
        <p:nvSpPr>
          <p:cNvPr id="12" name="Фото отправлено"/>
          <p:cNvSpPr txBox="1"/>
          <p:nvPr/>
        </p:nvSpPr>
        <p:spPr>
          <a:xfrm>
            <a:off x="91440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91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 присылаешь фото боту</a:t>
            </a:r>
            <a:endParaRPr lang="en-US" sz="1300" dirty="0"/>
          </a:p>
        </p:txBody>
      </p:sp>
      <p:sp>
        <p:nvSpPr>
          <p:cNvPr id="13" name="Фото в группе"/>
          <p:cNvSpPr txBox="1"/>
          <p:nvPr/>
        </p:nvSpPr>
        <p:spPr>
          <a:xfrm>
            <a:off x="6675120" y="228600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2232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фото выполнения</a:t>
            </a:r>
            <a:endParaRPr lang="en-US" sz="1400" dirty="0"/>
          </a:p>
        </p:txBody>
      </p:sp>
      <p:sp>
        <p:nvSpPr>
          <p:cNvPr id="14" name="Подпись отчёта"/>
          <p:cNvSpPr txBox="1"/>
          <p:nvPr/>
        </p:nvSpPr>
        <p:spPr>
          <a:xfrm>
            <a:off x="6675120" y="4069080"/>
            <a:ext cx="4572000" cy="469392"/>
          </a:xfrm>
          <a:prstGeom prst="roundRect">
            <a:avLst>
              <a:gd name="adj" fmla="val 27273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дня 1. Игрок 839201 завершил испытание.</a:t>
            </a:r>
            <a:endParaRPr lang="en-US" sz="1200" dirty="0"/>
          </a:p>
        </p:txBody>
      </p:sp>
      <p:sp>
        <p:nvSpPr>
          <p:cNvPr id="15" name="Стрелка"/>
          <p:cNvSpPr/>
          <p:nvPr/>
        </p:nvSpPr>
        <p:spPr>
          <a:xfrm>
            <a:off x="5852160" y="3291840"/>
            <a:ext cx="50292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Пояснение 1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Друзья в группе видят, что ты реально занимаешься.</a:t>
            </a:r>
            <a:endParaRPr lang="en-US" sz="1900" dirty="0"/>
          </a:p>
        </p:txBody>
      </p:sp>
      <p:sp>
        <p:nvSpPr>
          <p:cNvPr id="17" name="Пояснение 2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необязательна: её можно пропустить и привязать позже.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привязать группу</a:t>
            </a:r>
            <a:endParaRPr lang="en-US" sz="3000" dirty="0"/>
          </a:p>
        </p:txBody>
      </p:sp>
      <p:sp>
        <p:nvSpPr>
          <p:cNvPr id="3" name="Шаг 1"/>
          <p:cNvSpPr txBox="1"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Шаг 1"/>
          <p:cNvSpPr txBox="1"/>
          <p:nvPr/>
        </p:nvSpPr>
        <p:spPr>
          <a:xfrm>
            <a:off x="54864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Создай группу</a:t>
            </a:r>
            <a:endParaRPr lang="en-US" sz="1600" dirty="0"/>
          </a:p>
        </p:txBody>
      </p:sp>
      <p:sp>
        <p:nvSpPr>
          <p:cNvPr id="5" name="Шаг 2"/>
          <p:cNvSpPr txBox="1"/>
          <p:nvPr/>
        </p:nvSpPr>
        <p:spPr>
          <a:xfrm>
            <a:off x="3429000" y="141732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Шаг 2"/>
          <p:cNvSpPr txBox="1"/>
          <p:nvPr/>
        </p:nvSpPr>
        <p:spPr>
          <a:xfrm>
            <a:off x="342900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Добавь в неё бота «Система»</a:t>
            </a:r>
            <a:endParaRPr lang="en-US" sz="1600" dirty="0"/>
          </a:p>
        </p:txBody>
      </p:sp>
      <p:sp>
        <p:nvSpPr>
          <p:cNvPr id="7" name="Шаг 3"/>
          <p:cNvSpPr txBox="1"/>
          <p:nvPr/>
        </p:nvSpPr>
        <p:spPr>
          <a:xfrm>
            <a:off x="6309360" y="141732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Шаг 3"/>
          <p:cNvSpPr txBox="1"/>
          <p:nvPr/>
        </p:nvSpPr>
        <p:spPr>
          <a:xfrm>
            <a:off x="630936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сам напишет, что группа привязана</a:t>
            </a:r>
            <a:endParaRPr lang="en-US" sz="1600" dirty="0"/>
          </a:p>
        </p:txBody>
      </p:sp>
      <p:sp>
        <p:nvSpPr>
          <p:cNvPr id="9" name="Шаг 4"/>
          <p:cNvSpPr txBox="1"/>
          <p:nvPr/>
        </p:nvSpPr>
        <p:spPr>
          <a:xfrm>
            <a:off x="9189720" y="141732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Шаг 4"/>
          <p:cNvSpPr txBox="1"/>
          <p:nvPr/>
        </p:nvSpPr>
        <p:spPr>
          <a:xfrm>
            <a:off x="918972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сработало? Напиши /bind_group в группе</a:t>
            </a:r>
            <a:endParaRPr lang="en-US" sz="1600" dirty="0"/>
          </a:p>
        </p:txBody>
      </p:sp>
      <p:sp>
        <p:nvSpPr>
          <p:cNvPr id="11" name="Иконка группы"/>
          <p:cNvSpPr txBox="1"/>
          <p:nvPr/>
        </p:nvSpPr>
        <p:spPr>
          <a:xfrm>
            <a:off x="548640" y="2926080"/>
            <a:ext cx="1554480" cy="1554480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5200" dirty="0"/>
          </a:p>
        </p:txBody>
      </p:sp>
      <p:sp>
        <p:nvSpPr>
          <p:cNvPr id="12" name="Добавить бота"/>
          <p:cNvSpPr txBox="1"/>
          <p:nvPr/>
        </p:nvSpPr>
        <p:spPr>
          <a:xfrm>
            <a:off x="3429000" y="2926080"/>
            <a:ext cx="2011680" cy="1554480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🤖</a:t>
            </a:r>
            <a:endParaRPr lang="en-US" sz="4400" dirty="0"/>
          </a:p>
        </p:txBody>
      </p:sp>
      <p:sp>
        <p:nvSpPr>
          <p:cNvPr id="13" name="Автопривязка"/>
          <p:cNvSpPr txBox="1"/>
          <p:nvPr/>
        </p:nvSpPr>
        <p:spPr>
          <a:xfrm>
            <a:off x="6309360" y="2926080"/>
            <a:ext cx="2606040" cy="1119632"/>
          </a:xfrm>
          <a:prstGeom prst="roundRect">
            <a:avLst>
              <a:gd name="adj" fmla="val 11434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『Система』 Группа привязана к профилю Игрока. Здесь будет публиковаться прогресс.</a:t>
            </a:r>
            <a:endParaRPr lang="en-US" sz="1300" dirty="0"/>
          </a:p>
        </p:txBody>
      </p:sp>
      <p:sp>
        <p:nvSpPr>
          <p:cNvPr id="14" name="Команда bind_group"/>
          <p:cNvSpPr txBox="1"/>
          <p:nvPr/>
        </p:nvSpPr>
        <p:spPr>
          <a:xfrm>
            <a:off x="10058400" y="2926080"/>
            <a:ext cx="1737360" cy="485648"/>
          </a:xfrm>
          <a:prstGeom prst="roundRect">
            <a:avLst>
              <a:gd name="adj" fmla="val 26360"/>
            </a:avLst>
          </a:prstGeom>
          <a:solidFill>
            <a:srgbClr val="2B5278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/bind_group</a:t>
            </a:r>
            <a:endParaRPr lang="en-US" sz="1300" dirty="0"/>
          </a:p>
        </p:txBody>
      </p:sp>
      <p:sp>
        <p:nvSpPr>
          <p:cNvPr id="15" name="Ответ на bind_group"/>
          <p:cNvSpPr txBox="1"/>
          <p:nvPr/>
        </p:nvSpPr>
        <p:spPr>
          <a:xfrm>
            <a:off x="9189720" y="3520440"/>
            <a:ext cx="2606040" cy="1119632"/>
          </a:xfrm>
          <a:prstGeom prst="roundRect">
            <a:avLst>
              <a:gd name="adj" fmla="val 11434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『Система』 Группа привязана к твоему профилю. Прогресс будет публиковаться здесь.</a:t>
            </a:r>
            <a:endParaRPr lang="en-US" sz="1300" dirty="0"/>
          </a:p>
        </p:txBody>
      </p:sp>
      <p:sp>
        <p:nvSpPr>
          <p:cNvPr id="16" name="Требования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Боту нужно право писать сообщения и отправлять фото.</a:t>
            </a:r>
            <a:endParaRPr lang="en-US" sz="1700" dirty="0"/>
          </a:p>
        </p:txBody>
      </p:sp>
      <p:sp>
        <p:nvSpPr>
          <p:cNvPr id="17" name="Privacy Mode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не видит команду? В BotFather: /setprivacy → Disable, или сделай бота админом группы.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добавить друга</a:t>
            </a:r>
            <a:endParaRPr lang="en-US" sz="3000" dirty="0"/>
          </a:p>
        </p:txBody>
      </p:sp>
      <p:sp>
        <p:nvSpPr>
          <p:cNvPr id="3" name="Колонка ты"/>
          <p:cNvSpPr txBox="1"/>
          <p:nvPr/>
        </p:nvSpPr>
        <p:spPr>
          <a:xfrm>
            <a:off x="64008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</a:t>
            </a:r>
            <a:endParaRPr lang="en-US" sz="1500" dirty="0"/>
          </a:p>
        </p:txBody>
      </p:sp>
      <p:sp>
        <p:nvSpPr>
          <p:cNvPr id="4" name="Колонка друг"/>
          <p:cNvSpPr txBox="1"/>
          <p:nvPr/>
        </p:nvSpPr>
        <p:spPr>
          <a:xfrm>
            <a:off x="658368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</a:t>
            </a:r>
            <a:endParaRPr lang="en-US" sz="1500" dirty="0"/>
          </a:p>
        </p:txBody>
      </p:sp>
      <p:sp>
        <p:nvSpPr>
          <p:cNvPr id="5" name="Шаг 1"/>
          <p:cNvSpPr txBox="1"/>
          <p:nvPr/>
        </p:nvSpPr>
        <p:spPr>
          <a:xfrm>
            <a:off x="6080760" y="173736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Друг /profile"/>
          <p:cNvSpPr txBox="1"/>
          <p:nvPr/>
        </p:nvSpPr>
        <p:spPr>
          <a:xfrm>
            <a:off x="10241280" y="1737360"/>
            <a:ext cx="1371600" cy="469392"/>
          </a:xfrm>
          <a:prstGeom prst="roundRect">
            <a:avLst>
              <a:gd name="adj" fmla="val 27273"/>
            </a:avLst>
          </a:prstGeom>
          <a:solidFill>
            <a:srgbClr val="2B5278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/profile</a:t>
            </a:r>
            <a:endParaRPr lang="en-US" sz="1200" dirty="0"/>
          </a:p>
        </p:txBody>
      </p:sp>
      <p:sp>
        <p:nvSpPr>
          <p:cNvPr id="7" name="Код друга"/>
          <p:cNvSpPr txBox="1"/>
          <p:nvPr/>
        </p:nvSpPr>
        <p:spPr>
          <a:xfrm>
            <a:off x="6583680" y="2286000"/>
            <a:ext cx="5029200" cy="469392"/>
          </a:xfrm>
          <a:prstGeom prst="roundRect">
            <a:avLst>
              <a:gd name="adj" fmla="val 27273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🆔 Мария · #261023-554102</a:t>
            </a:r>
            <a:endParaRPr lang="en-US" sz="1200" dirty="0"/>
          </a:p>
        </p:txBody>
      </p:sp>
      <p:sp>
        <p:nvSpPr>
          <p:cNvPr id="8" name="Шаг 2"/>
          <p:cNvSpPr txBox="1"/>
          <p:nvPr/>
        </p:nvSpPr>
        <p:spPr>
          <a:xfrm>
            <a:off x="137160" y="292608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Ты /add_friend"/>
          <p:cNvSpPr txBox="1"/>
          <p:nvPr/>
        </p:nvSpPr>
        <p:spPr>
          <a:xfrm>
            <a:off x="4297680" y="2926080"/>
            <a:ext cx="1371600" cy="469392"/>
          </a:xfrm>
          <a:prstGeom prst="roundRect">
            <a:avLst>
              <a:gd name="adj" fmla="val 27273"/>
            </a:avLst>
          </a:prstGeom>
          <a:solidFill>
            <a:srgbClr val="2B5278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/add_friend</a:t>
            </a:r>
            <a:endParaRPr lang="en-US" sz="1200" dirty="0"/>
          </a:p>
        </p:txBody>
      </p:sp>
      <p:sp>
        <p:nvSpPr>
          <p:cNvPr id="10" name="Запрос кода"/>
          <p:cNvSpPr txBox="1"/>
          <p:nvPr/>
        </p:nvSpPr>
        <p:spPr>
          <a:xfrm>
            <a:off x="640080" y="3474720"/>
            <a:ext cx="5029200" cy="469392"/>
          </a:xfrm>
          <a:prstGeom prst="roundRect">
            <a:avLst>
              <a:gd name="adj" fmla="val 27273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Введи код игрока (см. /profile) - отправлю запрос в отряд.</a:t>
            </a:r>
            <a:endParaRPr lang="en-US" sz="1200" dirty="0"/>
          </a:p>
        </p:txBody>
      </p:sp>
      <p:sp>
        <p:nvSpPr>
          <p:cNvPr id="11" name="Ты код"/>
          <p:cNvSpPr txBox="1"/>
          <p:nvPr/>
        </p:nvSpPr>
        <p:spPr>
          <a:xfrm>
            <a:off x="3840480" y="4023360"/>
            <a:ext cx="1828800" cy="469392"/>
          </a:xfrm>
          <a:prstGeom prst="roundRect">
            <a:avLst>
              <a:gd name="adj" fmla="val 27273"/>
            </a:avLst>
          </a:prstGeom>
          <a:solidFill>
            <a:srgbClr val="2B5278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#261023-554102</a:t>
            </a:r>
            <a:endParaRPr lang="en-US" sz="1200" dirty="0"/>
          </a:p>
        </p:txBody>
      </p:sp>
      <p:sp>
        <p:nvSpPr>
          <p:cNvPr id="12" name="Запрос отправлен"/>
          <p:cNvSpPr txBox="1"/>
          <p:nvPr/>
        </p:nvSpPr>
        <p:spPr>
          <a:xfrm>
            <a:off x="640080" y="4572000"/>
            <a:ext cx="5029200" cy="469392"/>
          </a:xfrm>
          <a:prstGeom prst="roundRect">
            <a:avLst>
              <a:gd name="adj" fmla="val 27273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в друзья отправлен игроку Мария.</a:t>
            </a:r>
            <a:endParaRPr lang="en-US" sz="1200" dirty="0"/>
          </a:p>
        </p:txBody>
      </p:sp>
      <p:sp>
        <p:nvSpPr>
          <p:cNvPr id="13" name="Шаг 3"/>
          <p:cNvSpPr txBox="1"/>
          <p:nvPr/>
        </p:nvSpPr>
        <p:spPr>
          <a:xfrm>
            <a:off x="6080760" y="347472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Запрос на объединение"/>
          <p:cNvSpPr txBox="1"/>
          <p:nvPr/>
        </p:nvSpPr>
        <p:spPr>
          <a:xfrm>
            <a:off x="6583680" y="3474720"/>
            <a:ext cx="5029200" cy="859536"/>
          </a:xfrm>
          <a:prstGeom prst="roundRect">
            <a:avLst>
              <a:gd name="adj" fmla="val 14894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Обнаружен запрос на объединение.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 Алекс (уровень 3) хочет добавить тебя в друзья.</a:t>
            </a:r>
            <a:endParaRPr lang="en-US" sz="1200" dirty="0"/>
          </a:p>
        </p:txBody>
      </p:sp>
      <p:sp>
        <p:nvSpPr>
          <p:cNvPr id="15" name="Принять или отклонить r1c1"/>
          <p:cNvSpPr txBox="1"/>
          <p:nvPr/>
        </p:nvSpPr>
        <p:spPr>
          <a:xfrm>
            <a:off x="6583680" y="4389120"/>
            <a:ext cx="2491740" cy="365760"/>
          </a:xfrm>
          <a:prstGeom prst="roundRect">
            <a:avLst>
              <a:gd name="adj" fmla="val 2500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6" name="Принять или отклонить r1c2"/>
          <p:cNvSpPr txBox="1"/>
          <p:nvPr/>
        </p:nvSpPr>
        <p:spPr>
          <a:xfrm>
            <a:off x="9121140" y="4389120"/>
            <a:ext cx="2491740" cy="365760"/>
          </a:xfrm>
          <a:prstGeom prst="roundRect">
            <a:avLst>
              <a:gd name="adj" fmla="val 2500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17" name="Шаг 4"/>
          <p:cNvSpPr txBox="1"/>
          <p:nvPr/>
        </p:nvSpPr>
        <p:spPr>
          <a:xfrm>
            <a:off x="137160" y="5349240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Заявка принята"/>
          <p:cNvSpPr txBox="1"/>
          <p:nvPr/>
        </p:nvSpPr>
        <p:spPr>
          <a:xfrm>
            <a:off x="640080" y="5349240"/>
            <a:ext cx="5029200" cy="664464"/>
          </a:xfrm>
          <a:prstGeom prst="roundRect">
            <a:avLst>
              <a:gd name="adj" fmla="val 19266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Заявка принята. Теперь вы видите прогресс друг друга в /friendlist.</a:t>
            </a:r>
            <a:endParaRPr lang="en-US" sz="1200" dirty="0"/>
          </a:p>
        </p:txBody>
      </p:sp>
      <p:sp>
        <p:nvSpPr>
          <p:cNvPr id="19" name="Важно"/>
          <p:cNvSpPr txBox="1"/>
          <p:nvPr/>
        </p:nvSpPr>
        <p:spPr>
          <a:xfrm>
            <a:off x="6583680" y="5440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 должен хотя бы раз запустить бота.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Отряд: прогресс друзей</a:t>
            </a:r>
            <a:endParaRPr lang="en-US" sz="3000" dirty="0"/>
          </a:p>
        </p:txBody>
      </p:sp>
      <p:sp>
        <p:nvSpPr>
          <p:cNvPr id="3" name="Команда friendlist"/>
          <p:cNvSpPr txBox="1"/>
          <p:nvPr/>
        </p:nvSpPr>
        <p:spPr>
          <a:xfrm>
            <a:off x="4389120" y="1463040"/>
            <a:ext cx="1737360" cy="501904"/>
          </a:xfrm>
          <a:prstGeom prst="roundRect">
            <a:avLst>
              <a:gd name="adj" fmla="val 25506"/>
            </a:avLst>
          </a:prstGeom>
          <a:solidFill>
            <a:srgbClr val="2B5278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/friendlist</a:t>
            </a:r>
            <a:endParaRPr lang="en-US" sz="1400" dirty="0"/>
          </a:p>
        </p:txBody>
      </p:sp>
      <p:sp>
        <p:nvSpPr>
          <p:cNvPr id="4" name="Заголовок Отряда"/>
          <p:cNvSpPr txBox="1"/>
          <p:nvPr/>
        </p:nvSpPr>
        <p:spPr>
          <a:xfrm>
            <a:off x="640080" y="2057400"/>
            <a:ext cx="5486400" cy="518160"/>
          </a:xfrm>
          <a:prstGeom prst="roundRect">
            <a:avLst>
              <a:gd name="adj" fmla="val 24706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 Отряд 』</a:t>
            </a:r>
            <a:endParaRPr lang="en-US" sz="1500" dirty="0"/>
          </a:p>
        </p:txBody>
      </p:sp>
      <p:sp>
        <p:nvSpPr>
          <p:cNvPr id="5" name="Список друзей r1c1"/>
          <p:cNvSpPr txBox="1"/>
          <p:nvPr/>
        </p:nvSpPr>
        <p:spPr>
          <a:xfrm>
            <a:off x="640080" y="263042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Мария ✅</a:t>
            </a:r>
            <a:endParaRPr lang="en-US" sz="1500" dirty="0"/>
          </a:p>
        </p:txBody>
      </p:sp>
      <p:sp>
        <p:nvSpPr>
          <p:cNvPr id="6" name="Список друзей r2c1"/>
          <p:cNvSpPr txBox="1"/>
          <p:nvPr/>
        </p:nvSpPr>
        <p:spPr>
          <a:xfrm>
            <a:off x="640080" y="313334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⏳</a:t>
            </a:r>
            <a:endParaRPr lang="en-US" sz="1500" dirty="0"/>
          </a:p>
        </p:txBody>
      </p:sp>
      <p:sp>
        <p:nvSpPr>
          <p:cNvPr id="7" name="Список друзей r3c1"/>
          <p:cNvSpPr txBox="1"/>
          <p:nvPr/>
        </p:nvSpPr>
        <p:spPr>
          <a:xfrm>
            <a:off x="640080" y="363626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Ольга ▫️</a:t>
            </a:r>
            <a:endParaRPr lang="en-US" sz="1500" dirty="0"/>
          </a:p>
        </p:txBody>
      </p:sp>
      <p:sp>
        <p:nvSpPr>
          <p:cNvPr id="8" name="Список друзей r4c1"/>
          <p:cNvSpPr txBox="1"/>
          <p:nvPr/>
        </p:nvSpPr>
        <p:spPr>
          <a:xfrm>
            <a:off x="640080" y="413918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Игорь ❌</a:t>
            </a:r>
            <a:endParaRPr lang="en-US" sz="1500" dirty="0"/>
          </a:p>
        </p:txBody>
      </p:sp>
      <p:sp>
        <p:nvSpPr>
          <p:cNvPr id="9" name="Легенда"/>
          <p:cNvSpPr txBox="1"/>
          <p:nvPr/>
        </p:nvSpPr>
        <p:spPr>
          <a:xfrm>
            <a:off x="640080" y="5029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выполнено  ·  ⏳ в процессе  ·  ▫️ ещё не начато  ·  ❌ не выполнено</a:t>
            </a:r>
            <a:endParaRPr lang="en-US" sz="1500" dirty="0"/>
          </a:p>
        </p:txBody>
      </p:sp>
      <p:sp>
        <p:nvSpPr>
          <p:cNvPr id="10" name="Порядок"/>
          <p:cNvSpPr txBox="1"/>
          <p:nvPr/>
        </p:nvSpPr>
        <p:spPr>
          <a:xfrm>
            <a:off x="64008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Друзья идут по уровню, затем по серии.</a:t>
            </a:r>
            <a:endParaRPr lang="en-US" sz="1400" dirty="0"/>
          </a:p>
        </p:txBody>
      </p:sp>
      <p:sp>
        <p:nvSpPr>
          <p:cNvPr id="11" name="Стрелка"/>
          <p:cNvSpPr/>
          <p:nvPr/>
        </p:nvSpPr>
        <p:spPr>
          <a:xfrm>
            <a:off x="6355080" y="3291840"/>
            <a:ext cx="45720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Карточка друга"/>
          <p:cNvSpPr txBox="1"/>
          <p:nvPr/>
        </p:nvSpPr>
        <p:spPr>
          <a:xfrm>
            <a:off x="6949440" y="2057400"/>
            <a:ext cx="4663440" cy="1493520"/>
          </a:xfrm>
          <a:prstGeom prst="roundRect">
            <a:avLst>
              <a:gd name="adj" fmla="val 8571"/>
            </a:avLst>
          </a:prstGeom>
          <a:solidFill>
            <a:srgbClr val="182533"/>
          </a:solidFill>
          <a:ln/>
        </p:spPr>
        <p:txBody>
          <a:bodyPr wrap="square" lIns="88900" tIns="127000" rIns="127000" bIns="889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 Дмитрий 』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Уровень: 2 (400/1120 XP)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Серия: 2 дня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Испытание сегодня: ⏳ в процессе</a:t>
            </a:r>
            <a:endParaRPr lang="en-US" sz="1500" dirty="0"/>
          </a:p>
        </p:txBody>
      </p:sp>
      <p:sp>
        <p:nvSpPr>
          <p:cNvPr id="13" name="Кнопки друга r1c1"/>
          <p:cNvSpPr txBox="1"/>
          <p:nvPr/>
        </p:nvSpPr>
        <p:spPr>
          <a:xfrm>
            <a:off x="6949440" y="3605784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Поддержать</a:t>
            </a:r>
            <a:endParaRPr lang="en-US" sz="1500" dirty="0"/>
          </a:p>
        </p:txBody>
      </p:sp>
      <p:sp>
        <p:nvSpPr>
          <p:cNvPr id="14" name="Кнопки друга r2c1"/>
          <p:cNvSpPr txBox="1"/>
          <p:nvPr/>
        </p:nvSpPr>
        <p:spPr>
          <a:xfrm>
            <a:off x="6949440" y="4108704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 Удалить из отряда</a:t>
            </a:r>
            <a:endParaRPr lang="en-US" sz="1500" dirty="0"/>
          </a:p>
        </p:txBody>
      </p:sp>
      <p:sp>
        <p:nvSpPr>
          <p:cNvPr id="15" name="Кнопки друга r3c1"/>
          <p:cNvSpPr txBox="1"/>
          <p:nvPr/>
        </p:nvSpPr>
        <p:spPr>
          <a:xfrm>
            <a:off x="6949440" y="4611624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2E4259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⬅ Назад</a:t>
            </a:r>
            <a:endParaRPr lang="en-US" sz="1500" dirty="0"/>
          </a:p>
        </p:txBody>
      </p:sp>
      <p:sp>
        <p:nvSpPr>
          <p:cNvPr id="16" name="Поддержка"/>
          <p:cNvSpPr txBox="1"/>
          <p:nvPr/>
        </p:nvSpPr>
        <p:spPr>
          <a:xfrm>
            <a:off x="6949440" y="52578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у друга идёт квест, нажми «🤝 Поддержать». Повторное нажатие снимает поддержку.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команды</a:t>
            </a:r>
            <a:endParaRPr lang="en-US" sz="3000" dirty="0"/>
          </a:p>
        </p:txBody>
      </p:sp>
      <p:sp>
        <p:nvSpPr>
          <p:cNvPr id="3" name="Команда /start"/>
          <p:cNvSpPr txBox="1"/>
          <p:nvPr/>
        </p:nvSpPr>
        <p:spPr>
          <a:xfrm>
            <a:off x="548640" y="146304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numCol="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/start</a:t>
            </a:r>
            <a:endParaRPr lang="en-US" sz="1500" dirty="0"/>
          </a:p>
        </p:txBody>
      </p:sp>
      <p:sp>
        <p:nvSpPr>
          <p:cNvPr id="4" name="Описание /start"/>
          <p:cNvSpPr txBox="1"/>
          <p:nvPr/>
        </p:nvSpPr>
        <p:spPr>
          <a:xfrm>
            <a:off x="2926080" y="14630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и возвращение после паузы</a:t>
            </a:r>
            <a:endParaRPr lang="en-US" sz="1400" dirty="0"/>
          </a:p>
        </p:txBody>
      </p:sp>
      <p:sp>
        <p:nvSpPr>
          <p:cNvPr id="5" name="Команда /profile"/>
          <p:cNvSpPr txBox="1"/>
          <p:nvPr/>
        </p:nvSpPr>
        <p:spPr>
          <a:xfrm>
            <a:off x="548640" y="2121408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1500" dirty="0"/>
          </a:p>
        </p:txBody>
      </p:sp>
      <p:sp>
        <p:nvSpPr>
          <p:cNvPr id="6" name="Описание /profile"/>
          <p:cNvSpPr txBox="1"/>
          <p:nvPr/>
        </p:nvSpPr>
        <p:spPr>
          <a:xfrm>
            <a:off x="2926080" y="212140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закреплённый профиль: уровень, серия, итоги</a:t>
            </a:r>
            <a:endParaRPr lang="en-US" sz="1400" dirty="0"/>
          </a:p>
        </p:txBody>
      </p:sp>
      <p:sp>
        <p:nvSpPr>
          <p:cNvPr id="7" name="Команда /change_time"/>
          <p:cNvSpPr txBox="1"/>
          <p:nvPr/>
        </p:nvSpPr>
        <p:spPr>
          <a:xfrm>
            <a:off x="548640" y="2779776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/change_time</a:t>
            </a:r>
            <a:endParaRPr lang="en-US" sz="1500" dirty="0"/>
          </a:p>
        </p:txBody>
      </p:sp>
      <p:sp>
        <p:nvSpPr>
          <p:cNvPr id="8" name="Описание /change_time"/>
          <p:cNvSpPr txBox="1"/>
          <p:nvPr/>
        </p:nvSpPr>
        <p:spPr>
          <a:xfrm>
            <a:off x="2926080" y="27797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сменить время квеста</a:t>
            </a:r>
            <a:endParaRPr lang="en-US" sz="1400" dirty="0"/>
          </a:p>
        </p:txBody>
      </p:sp>
      <p:sp>
        <p:nvSpPr>
          <p:cNvPr id="9" name="Команда /change_focus"/>
          <p:cNvSpPr txBox="1"/>
          <p:nvPr/>
        </p:nvSpPr>
        <p:spPr>
          <a:xfrm>
            <a:off x="548640" y="3438144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/change_focus</a:t>
            </a:r>
            <a:endParaRPr lang="en-US" sz="1500" dirty="0"/>
          </a:p>
        </p:txBody>
      </p:sp>
      <p:sp>
        <p:nvSpPr>
          <p:cNvPr id="10" name="Описание /change_focus"/>
          <p:cNvSpPr txBox="1"/>
          <p:nvPr/>
        </p:nvSpPr>
        <p:spPr>
          <a:xfrm>
            <a:off x="2926080" y="34381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сменить дисциплины</a:t>
            </a:r>
            <a:endParaRPr lang="en-US" sz="1400" dirty="0"/>
          </a:p>
        </p:txBody>
      </p:sp>
      <p:sp>
        <p:nvSpPr>
          <p:cNvPr id="11" name="Команда /stop"/>
          <p:cNvSpPr txBox="1"/>
          <p:nvPr/>
        </p:nvSpPr>
        <p:spPr>
          <a:xfrm>
            <a:off x="548640" y="4096512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/stop</a:t>
            </a:r>
            <a:endParaRPr lang="en-US" sz="1500" dirty="0"/>
          </a:p>
        </p:txBody>
      </p:sp>
      <p:sp>
        <p:nvSpPr>
          <p:cNvPr id="12" name="Описание /stop"/>
          <p:cNvSpPr txBox="1"/>
          <p:nvPr/>
        </p:nvSpPr>
        <p:spPr>
          <a:xfrm>
            <a:off x="2926080" y="409651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поставить Систему на паузу</a:t>
            </a:r>
            <a:endParaRPr lang="en-US" sz="1400" dirty="0"/>
          </a:p>
        </p:txBody>
      </p:sp>
      <p:sp>
        <p:nvSpPr>
          <p:cNvPr id="13" name="Команда /get_stats_excel"/>
          <p:cNvSpPr txBox="1"/>
          <p:nvPr/>
        </p:nvSpPr>
        <p:spPr>
          <a:xfrm>
            <a:off x="548640" y="475488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/get_stats_excel</a:t>
            </a:r>
            <a:endParaRPr lang="en-US" sz="1500" dirty="0"/>
          </a:p>
        </p:txBody>
      </p:sp>
      <p:sp>
        <p:nvSpPr>
          <p:cNvPr id="14" name="Описание /get_stats_excel"/>
          <p:cNvSpPr txBox="1"/>
          <p:nvPr/>
        </p:nvSpPr>
        <p:spPr>
          <a:xfrm>
            <a:off x="2926080" y="47548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по дням в Excel</a:t>
            </a:r>
            <a:endParaRPr lang="en-US" sz="1400" dirty="0"/>
          </a:p>
        </p:txBody>
      </p:sp>
      <p:sp>
        <p:nvSpPr>
          <p:cNvPr id="15" name="Команда /add_friend"/>
          <p:cNvSpPr txBox="1"/>
          <p:nvPr/>
        </p:nvSpPr>
        <p:spPr>
          <a:xfrm>
            <a:off x="6217920" y="146304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/add_friend</a:t>
            </a:r>
            <a:endParaRPr lang="en-US" sz="1500" dirty="0"/>
          </a:p>
        </p:txBody>
      </p:sp>
      <p:sp>
        <p:nvSpPr>
          <p:cNvPr id="16" name="Описание /add_friend"/>
          <p:cNvSpPr txBox="1"/>
          <p:nvPr/>
        </p:nvSpPr>
        <p:spPr>
          <a:xfrm>
            <a:off x="8595360" y="14630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друга по коду</a:t>
            </a:r>
            <a:endParaRPr lang="en-US" sz="1400" dirty="0"/>
          </a:p>
        </p:txBody>
      </p:sp>
      <p:sp>
        <p:nvSpPr>
          <p:cNvPr id="17" name="Команда /friendlist"/>
          <p:cNvSpPr txBox="1"/>
          <p:nvPr/>
        </p:nvSpPr>
        <p:spPr>
          <a:xfrm>
            <a:off x="6217920" y="2121408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/friendlist</a:t>
            </a:r>
            <a:endParaRPr lang="en-US" sz="1500" dirty="0"/>
          </a:p>
        </p:txBody>
      </p:sp>
      <p:sp>
        <p:nvSpPr>
          <p:cNvPr id="18" name="Описание /friendlist"/>
          <p:cNvSpPr txBox="1"/>
          <p:nvPr/>
        </p:nvSpPr>
        <p:spPr>
          <a:xfrm>
            <a:off x="8595360" y="212140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Отряд: друзья и их прогресс</a:t>
            </a:r>
            <a:endParaRPr lang="en-US" sz="1400" dirty="0"/>
          </a:p>
        </p:txBody>
      </p:sp>
      <p:sp>
        <p:nvSpPr>
          <p:cNvPr id="19" name="Команда /bind_group"/>
          <p:cNvSpPr txBox="1"/>
          <p:nvPr/>
        </p:nvSpPr>
        <p:spPr>
          <a:xfrm>
            <a:off x="6217920" y="2779776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/bind_group</a:t>
            </a:r>
            <a:endParaRPr lang="en-US" sz="1500" dirty="0"/>
          </a:p>
        </p:txBody>
      </p:sp>
      <p:sp>
        <p:nvSpPr>
          <p:cNvPr id="20" name="Описание /bind_group"/>
          <p:cNvSpPr txBox="1"/>
          <p:nvPr/>
        </p:nvSpPr>
        <p:spPr>
          <a:xfrm>
            <a:off x="8595360" y="27797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привязать группу (писать внутри группы)</a:t>
            </a:r>
            <a:endParaRPr lang="en-US" sz="1400" dirty="0"/>
          </a:p>
        </p:txBody>
      </p:sp>
      <p:sp>
        <p:nvSpPr>
          <p:cNvPr id="21" name="Команда /group_id"/>
          <p:cNvSpPr txBox="1"/>
          <p:nvPr/>
        </p:nvSpPr>
        <p:spPr>
          <a:xfrm>
            <a:off x="6217920" y="3438144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/group_id</a:t>
            </a:r>
            <a:endParaRPr lang="en-US" sz="1500" dirty="0"/>
          </a:p>
        </p:txBody>
      </p:sp>
      <p:sp>
        <p:nvSpPr>
          <p:cNvPr id="22" name="Описание /group_id"/>
          <p:cNvSpPr txBox="1"/>
          <p:nvPr/>
        </p:nvSpPr>
        <p:spPr>
          <a:xfrm>
            <a:off x="8595360" y="34381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узнать ID группы</a:t>
            </a:r>
            <a:endParaRPr lang="en-US" sz="1400" dirty="0"/>
          </a:p>
        </p:txBody>
      </p:sp>
      <p:sp>
        <p:nvSpPr>
          <p:cNvPr id="23" name="Команда /help"/>
          <p:cNvSpPr txBox="1"/>
          <p:nvPr/>
        </p:nvSpPr>
        <p:spPr>
          <a:xfrm>
            <a:off x="6217920" y="4096512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32F3E"/>
          </a:solidFill>
          <a:ln/>
        </p:spPr>
        <p:txBody>
          <a:bodyPr wrap="square" lIns="0" tIns="127000" rIns="10160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500" dirty="0"/>
          </a:p>
        </p:txBody>
      </p:sp>
      <p:sp>
        <p:nvSpPr>
          <p:cNvPr id="24" name="Описание /help"/>
          <p:cNvSpPr txBox="1"/>
          <p:nvPr/>
        </p:nvSpPr>
        <p:spPr>
          <a:xfrm>
            <a:off x="8595360" y="409651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команд и этот гайд</a:t>
            </a:r>
            <a:endParaRPr lang="en-US" sz="1400" dirty="0"/>
          </a:p>
        </p:txBody>
      </p:sp>
      <p:sp>
        <p:nvSpPr>
          <p:cNvPr id="25" name="Призыв"/>
          <p:cNvSpPr txBox="1"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Отправь /start и получи первый квест</a:t>
            </a:r>
            <a:endParaRPr lang="en-US" sz="2000" dirty="0"/>
          </a:p>
        </p:txBody>
      </p:sp>
      <p:sp>
        <p:nvSpPr>
          <p:cNvPr id="26" name="Подсказка"/>
          <p:cNvSpPr txBox="1"/>
          <p:nvPr/>
        </p:nvSpPr>
        <p:spPr>
          <a:xfrm>
            <a:off x="548640" y="61996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Начни с 1–2 дисциплин. Нужна пауза — пиши /stop, а не пропадай.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истема">
  <a:themeElements>
    <a:clrScheme name="Система">
      <a:dk1>
        <a:srgbClr val="0B0F17"/>
      </a:dk1>
      <a:lt1>
        <a:srgbClr val="FFFFFF"/>
      </a:lt1>
      <a:dk2>
        <a:srgbClr val="17212B"/>
      </a:dk2>
      <a:lt2>
        <a:srgbClr val="9AA7B4"/>
      </a:lt2>
      <a:accent1>
        <a:srgbClr val="A855F7"/>
      </a:accent1>
      <a:accent2>
        <a:srgbClr val="7C3AED"/>
      </a:accent2>
      <a:accent3>
        <a:srgbClr val="2B5278"/>
      </a:accent3>
      <a:accent4>
        <a:srgbClr val="4ADE80"/>
      </a:accent4>
      <a:accent5>
        <a:srgbClr val="F87171"/>
      </a:accent5>
      <a:accent6>
        <a:srgbClr val="FACC15"/>
      </a:accent6>
      <a:hlink>
        <a:srgbClr val="A855F7"/>
      </a:hlink>
      <a:folHlink>
        <a:srgbClr val="7C3AED"/>
      </a:folHlink>
    </a:clrScheme>
    <a:fontScheme name="Система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1405</Words>
  <Application>Microsoft Office PowerPoint</Application>
  <PresentationFormat>Широкоэкранный</PresentationFormat>
  <Paragraphs>301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Consolas</vt:lpstr>
      <vt:lpstr>Система</vt:lpstr>
      <vt:lpstr>Презентация PowerPoint</vt:lpstr>
      <vt:lpstr>Превращаем привычки в RPG</vt:lpstr>
      <vt:lpstr>Старт за пару минут</vt:lpstr>
      <vt:lpstr>Каждый день приходит карточка квеста</vt:lpstr>
      <vt:lpstr>Нажми на дисциплину и отправь число</vt:lpstr>
      <vt:lpstr>Фото и завершение квеста</vt:lpstr>
      <vt:lpstr>XP, уровни и серия</vt:lpstr>
      <vt:lpstr>Не успел? Вот что будет</vt:lpstr>
      <vt:lpstr>Карточка не пришла? Это не твоя вина</vt:lpstr>
      <vt:lpstr>Твой профиль и статистика</vt:lpstr>
      <vt:lpstr>Группа: друзья видят твой прогресс</vt:lpstr>
      <vt:lpstr>Как привязать группу</vt:lpstr>
      <vt:lpstr>Как добавить друга</vt:lpstr>
      <vt:lpstr>Отряд: прогресс друзей</vt:lpstr>
      <vt:lpstr>Все команды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— гайд игрока</dc:title>
  <dc:subject>PptxGenJS Presentation</dc:subject>
  <dc:creator>Система</dc:creator>
  <cp:lastModifiedBy>Elen Turokamo</cp:lastModifiedBy>
  <cp:revision>2</cp:revision>
  <dcterms:created xsi:type="dcterms:W3CDTF">2026-10-24T07:57:13Z</dcterms:created>
  <dcterms:modified xsi:type="dcterms:W3CDTF">2026-10-24T08:10:58Z</dcterms:modified>
</cp:coreProperties>
</file>